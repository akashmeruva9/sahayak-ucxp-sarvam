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01</a:t>
            </a:r>
            <a:r>
              <a:rPr sz="900">
                <a:solidFill>
                  <a:srgbClr val="7C8593"/>
                </a:solidFill>
                <a:latin typeface="Menlo"/>
              </a:rPr>
              <a:t>     SAHAYAK · SPEAKS UCXP</a:t>
            </a:r>
          </a:p>
        </p:txBody>
      </p:sp>
      <p:sp>
        <p:nvSpPr>
          <p:cNvPr id="3" name="TextBox 2"/>
          <p:cNvSpPr txBox="1"/>
          <p:nvPr/>
        </p:nvSpPr>
        <p:spPr>
          <a:xfrm>
            <a:off x="777240" y="960120"/>
            <a:ext cx="6400800" cy="2377440"/>
          </a:xfrm>
          <a:prstGeom prst="rect">
            <a:avLst/>
          </a:prstGeom>
          <a:noFill/>
        </p:spPr>
        <p:txBody>
          <a:bodyPr wrap="square" lIns="0" rIns="0" tIns="0" bIns="0">
            <a:spAutoFit/>
          </a:bodyPr>
          <a:lstStyle/>
          <a:p>
            <a:pPr>
              <a:lnSpc>
                <a:spcPct val="102000"/>
              </a:lnSpc>
              <a:spcAft>
                <a:spcPts val="0"/>
              </a:spcAft>
            </a:pPr>
            <a:r>
              <a:rPr sz="4600" b="1" i="0">
                <a:solidFill>
                  <a:srgbClr val="131A24"/>
                </a:solidFill>
                <a:latin typeface="Iowan Old Style"/>
              </a:rPr>
              <a:t>One interface.</a:t>
            </a:r>
          </a:p>
          <a:p>
            <a:pPr>
              <a:lnSpc>
                <a:spcPct val="102000"/>
              </a:lnSpc>
              <a:spcAft>
                <a:spcPts val="0"/>
              </a:spcAft>
            </a:pPr>
            <a:r>
              <a:rPr sz="4600" b="1" i="0">
                <a:solidFill>
                  <a:srgbClr val="131A24"/>
                </a:solidFill>
                <a:latin typeface="Iowan Old Style"/>
              </a:rPr>
              <a:t>Any business.</a:t>
            </a:r>
          </a:p>
          <a:p>
            <a:pPr>
              <a:lnSpc>
                <a:spcPct val="102000"/>
              </a:lnSpc>
              <a:spcAft>
                <a:spcPts val="0"/>
              </a:spcAft>
            </a:pPr>
            <a:r>
              <a:rPr sz="4600" b="1" i="0">
                <a:solidFill>
                  <a:srgbClr val="131A24"/>
                </a:solidFill>
                <a:latin typeface="Iowan Old Style"/>
              </a:rPr>
              <a:t>Any language.</a:t>
            </a:r>
          </a:p>
        </p:txBody>
      </p:sp>
      <p:sp>
        <p:nvSpPr>
          <p:cNvPr id="4" name="TextBox 3"/>
          <p:cNvSpPr txBox="1"/>
          <p:nvPr/>
        </p:nvSpPr>
        <p:spPr>
          <a:xfrm>
            <a:off x="777240" y="3520440"/>
            <a:ext cx="1005840" cy="310896"/>
          </a:xfrm>
          <a:prstGeom prst="rect">
            <a:avLst/>
          </a:prstGeom>
          <a:noFill/>
        </p:spPr>
        <p:txBody>
          <a:bodyPr wrap="square" lIns="0" rIns="0" tIns="0" bIns="0">
            <a:spAutoFit/>
          </a:bodyPr>
          <a:lstStyle/>
          <a:p>
            <a:pPr>
              <a:spcAft>
                <a:spcPts val="0"/>
              </a:spcAft>
            </a:pPr>
            <a:r>
              <a:rPr sz="900" b="0" i="0">
                <a:solidFill>
                  <a:srgbClr val="7C8593"/>
                </a:solidFill>
                <a:latin typeface="Menlo"/>
              </a:rPr>
              <a:t>TELUGU</a:t>
            </a:r>
          </a:p>
        </p:txBody>
      </p:sp>
      <p:sp>
        <p:nvSpPr>
          <p:cNvPr id="5" name="TextBox 4"/>
          <p:cNvSpPr txBox="1"/>
          <p:nvPr/>
        </p:nvSpPr>
        <p:spPr>
          <a:xfrm>
            <a:off x="1874520" y="3465576"/>
            <a:ext cx="7680960" cy="384048"/>
          </a:xfrm>
          <a:prstGeom prst="rect">
            <a:avLst/>
          </a:prstGeom>
          <a:noFill/>
        </p:spPr>
        <p:txBody>
          <a:bodyPr wrap="square" lIns="0" rIns="0" tIns="0" bIns="0">
            <a:spAutoFit/>
          </a:bodyPr>
          <a:lstStyle/>
          <a:p>
            <a:r>
              <a:rPr sz="1900">
                <a:solidFill>
                  <a:srgbClr val="131A24"/>
                </a:solidFill>
              </a:rPr>
              <a:t>నా Flipkart order ఎక్కడ ఉంది?</a:t>
            </a:r>
          </a:p>
        </p:txBody>
      </p:sp>
      <p:sp>
        <p:nvSpPr>
          <p:cNvPr id="6" name="TextBox 5"/>
          <p:cNvSpPr txBox="1"/>
          <p:nvPr/>
        </p:nvSpPr>
        <p:spPr>
          <a:xfrm>
            <a:off x="777240" y="3904488"/>
            <a:ext cx="1005840" cy="310896"/>
          </a:xfrm>
          <a:prstGeom prst="rect">
            <a:avLst/>
          </a:prstGeom>
          <a:noFill/>
        </p:spPr>
        <p:txBody>
          <a:bodyPr wrap="square" lIns="0" rIns="0" tIns="0" bIns="0">
            <a:spAutoFit/>
          </a:bodyPr>
          <a:lstStyle/>
          <a:p>
            <a:pPr>
              <a:spcAft>
                <a:spcPts val="0"/>
              </a:spcAft>
            </a:pPr>
            <a:r>
              <a:rPr sz="900" b="0" i="0">
                <a:solidFill>
                  <a:srgbClr val="7C8593"/>
                </a:solidFill>
                <a:latin typeface="Menlo"/>
              </a:rPr>
              <a:t>HINDI</a:t>
            </a:r>
          </a:p>
        </p:txBody>
      </p:sp>
      <p:sp>
        <p:nvSpPr>
          <p:cNvPr id="7" name="TextBox 6"/>
          <p:cNvSpPr txBox="1"/>
          <p:nvPr/>
        </p:nvSpPr>
        <p:spPr>
          <a:xfrm>
            <a:off x="1874520" y="3849624"/>
            <a:ext cx="7680960" cy="384048"/>
          </a:xfrm>
          <a:prstGeom prst="rect">
            <a:avLst/>
          </a:prstGeom>
          <a:noFill/>
        </p:spPr>
        <p:txBody>
          <a:bodyPr wrap="square" lIns="0" rIns="0" tIns="0" bIns="0">
            <a:spAutoFit/>
          </a:bodyPr>
          <a:lstStyle/>
          <a:p>
            <a:r>
              <a:rPr sz="1900">
                <a:solidFill>
                  <a:srgbClr val="131A24"/>
                </a:solidFill>
              </a:rPr>
              <a:t>मेरा ऑर्डर कहाँ है?</a:t>
            </a:r>
          </a:p>
        </p:txBody>
      </p:sp>
      <p:sp>
        <p:nvSpPr>
          <p:cNvPr id="8" name="TextBox 7"/>
          <p:cNvSpPr txBox="1"/>
          <p:nvPr/>
        </p:nvSpPr>
        <p:spPr>
          <a:xfrm>
            <a:off x="777240" y="4288536"/>
            <a:ext cx="1005840" cy="310896"/>
          </a:xfrm>
          <a:prstGeom prst="rect">
            <a:avLst/>
          </a:prstGeom>
          <a:noFill/>
        </p:spPr>
        <p:txBody>
          <a:bodyPr wrap="square" lIns="0" rIns="0" tIns="0" bIns="0">
            <a:spAutoFit/>
          </a:bodyPr>
          <a:lstStyle/>
          <a:p>
            <a:pPr>
              <a:spcAft>
                <a:spcPts val="0"/>
              </a:spcAft>
            </a:pPr>
            <a:r>
              <a:rPr sz="900" b="0" i="0">
                <a:solidFill>
                  <a:srgbClr val="7C8593"/>
                </a:solidFill>
                <a:latin typeface="Menlo"/>
              </a:rPr>
              <a:t>TAMIL</a:t>
            </a:r>
          </a:p>
        </p:txBody>
      </p:sp>
      <p:sp>
        <p:nvSpPr>
          <p:cNvPr id="9" name="TextBox 8"/>
          <p:cNvSpPr txBox="1"/>
          <p:nvPr/>
        </p:nvSpPr>
        <p:spPr>
          <a:xfrm>
            <a:off x="1874520" y="4233672"/>
            <a:ext cx="7680960" cy="384048"/>
          </a:xfrm>
          <a:prstGeom prst="rect">
            <a:avLst/>
          </a:prstGeom>
          <a:noFill/>
        </p:spPr>
        <p:txBody>
          <a:bodyPr wrap="square" lIns="0" rIns="0" tIns="0" bIns="0">
            <a:spAutoFit/>
          </a:bodyPr>
          <a:lstStyle/>
          <a:p>
            <a:r>
              <a:rPr sz="1900">
                <a:solidFill>
                  <a:srgbClr val="131A24"/>
                </a:solidFill>
              </a:rPr>
              <a:t>என் ஆர்டர் எங்கே?</a:t>
            </a:r>
          </a:p>
        </p:txBody>
      </p:sp>
      <p:sp>
        <p:nvSpPr>
          <p:cNvPr id="10" name="TextBox 9"/>
          <p:cNvSpPr txBox="1"/>
          <p:nvPr/>
        </p:nvSpPr>
        <p:spPr>
          <a:xfrm>
            <a:off x="777240" y="4672584"/>
            <a:ext cx="1005840" cy="310896"/>
          </a:xfrm>
          <a:prstGeom prst="rect">
            <a:avLst/>
          </a:prstGeom>
          <a:noFill/>
        </p:spPr>
        <p:txBody>
          <a:bodyPr wrap="square" lIns="0" rIns="0" tIns="0" bIns="0">
            <a:spAutoFit/>
          </a:bodyPr>
          <a:lstStyle/>
          <a:p>
            <a:pPr>
              <a:spcAft>
                <a:spcPts val="0"/>
              </a:spcAft>
            </a:pPr>
            <a:r>
              <a:rPr sz="900" b="0" i="0">
                <a:solidFill>
                  <a:srgbClr val="7C8593"/>
                </a:solidFill>
                <a:latin typeface="Menlo"/>
              </a:rPr>
              <a:t>ENGLISH</a:t>
            </a:r>
          </a:p>
        </p:txBody>
      </p:sp>
      <p:sp>
        <p:nvSpPr>
          <p:cNvPr id="11" name="TextBox 10"/>
          <p:cNvSpPr txBox="1"/>
          <p:nvPr/>
        </p:nvSpPr>
        <p:spPr>
          <a:xfrm>
            <a:off x="1874520" y="4617720"/>
            <a:ext cx="7680960" cy="384048"/>
          </a:xfrm>
          <a:prstGeom prst="rect">
            <a:avLst/>
          </a:prstGeom>
          <a:noFill/>
        </p:spPr>
        <p:txBody>
          <a:bodyPr wrap="square" lIns="0" rIns="0" tIns="0" bIns="0">
            <a:spAutoFit/>
          </a:bodyPr>
          <a:lstStyle/>
          <a:p>
            <a:r>
              <a:rPr sz="1900">
                <a:solidFill>
                  <a:srgbClr val="131A24"/>
                </a:solidFill>
              </a:rPr>
              <a:t>Where is my order?</a:t>
            </a:r>
          </a:p>
        </p:txBody>
      </p:sp>
      <p:sp>
        <p:nvSpPr>
          <p:cNvPr id="12" name="Rectangle 11"/>
          <p:cNvSpPr/>
          <p:nvPr/>
        </p:nvSpPr>
        <p:spPr>
          <a:xfrm>
            <a:off x="777240" y="5230368"/>
            <a:ext cx="10637215" cy="9525"/>
          </a:xfrm>
          <a:prstGeom prst="rect">
            <a:avLst/>
          </a:prstGeom>
          <a:solidFill>
            <a:srgbClr val="DD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413248"/>
            <a:ext cx="10241280" cy="365760"/>
          </a:xfrm>
          <a:prstGeom prst="rect">
            <a:avLst/>
          </a:prstGeom>
          <a:noFill/>
        </p:spPr>
        <p:txBody>
          <a:bodyPr wrap="square" lIns="0" rIns="0" tIns="0" bIns="0">
            <a:spAutoFit/>
          </a:bodyPr>
          <a:lstStyle/>
          <a:p>
            <a:r>
              <a:rPr sz="900">
                <a:solidFill>
                  <a:srgbClr val="7C8593"/>
                </a:solidFill>
                <a:latin typeface="Menlo"/>
              </a:rPr>
              <a:t>ALL FOUR RESOLVE TO      </a:t>
            </a:r>
            <a:r>
              <a:rPr sz="1300" b="1">
                <a:solidFill>
                  <a:srgbClr val="B87A0D"/>
                </a:solidFill>
                <a:latin typeface="Menlo"/>
              </a:rPr>
              <a:t>flipkart · track_order → receipt</a:t>
            </a:r>
          </a:p>
        </p:txBody>
      </p:sp>
      <p:sp>
        <p:nvSpPr>
          <p:cNvPr id="14" name="TextBox 13"/>
          <p:cNvSpPr txBox="1"/>
          <p:nvPr/>
        </p:nvSpPr>
        <p:spPr>
          <a:xfrm>
            <a:off x="777240" y="5989320"/>
            <a:ext cx="8778240" cy="1188720"/>
          </a:xfrm>
          <a:prstGeom prst="rect">
            <a:avLst/>
          </a:prstGeom>
          <a:noFill/>
        </p:spPr>
        <p:txBody>
          <a:bodyPr wrap="square" lIns="0" rIns="0" tIns="0" bIns="0">
            <a:spAutoFit/>
          </a:bodyPr>
          <a:lstStyle/>
          <a:p>
            <a:pPr>
              <a:lnSpc>
                <a:spcPct val="140000"/>
              </a:lnSpc>
              <a:spcAft>
                <a:spcPts val="0"/>
              </a:spcAft>
            </a:pPr>
            <a:r>
              <a:rPr sz="1500" b="0" i="0">
                <a:solidFill>
                  <a:srgbClr val="5D6875"/>
                </a:solidFill>
                <a:latin typeface="Avenir Next"/>
              </a:rPr>
              <a:t>A protocol for customer resolution, and a runtime that contains no business-specific code.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02</a:t>
            </a:r>
            <a:r>
              <a:rPr sz="900">
                <a:solidFill>
                  <a:srgbClr val="7C8593"/>
                </a:solidFill>
                <a:latin typeface="Menlo"/>
              </a:rPr>
              <a:t>     THE GAP</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400" b="1" i="0">
                <a:solidFill>
                  <a:srgbClr val="131A24"/>
                </a:solidFill>
                <a:latin typeface="Iowan Old Style"/>
              </a:rPr>
              <a:t>India runs on 22 languages.
Its customer support runs on one.</a:t>
            </a:r>
          </a:p>
        </p:txBody>
      </p:sp>
      <p:sp>
        <p:nvSpPr>
          <p:cNvPr id="4" name="TextBox 3"/>
          <p:cNvSpPr txBox="1"/>
          <p:nvPr/>
        </p:nvSpPr>
        <p:spPr>
          <a:xfrm>
            <a:off x="777240" y="3017520"/>
            <a:ext cx="2419273" cy="1371600"/>
          </a:xfrm>
          <a:prstGeom prst="rect">
            <a:avLst/>
          </a:prstGeom>
          <a:noFill/>
        </p:spPr>
        <p:txBody>
          <a:bodyPr wrap="square" lIns="0" rIns="0" tIns="0" bIns="0">
            <a:spAutoFit/>
          </a:bodyPr>
          <a:lstStyle/>
          <a:p>
            <a:r>
              <a:rPr sz="3800" b="1">
                <a:solidFill>
                  <a:srgbClr val="B87A0D"/>
                </a:solidFill>
                <a:latin typeface="Iowan Old Style"/>
              </a:rPr>
              <a:t>~1.1</a:t>
            </a:r>
            <a:r>
              <a:rPr sz="1700">
                <a:solidFill>
                  <a:srgbClr val="7C8593"/>
                </a:solidFill>
                <a:latin typeface="Iowan Old Style"/>
              </a:rPr>
              <a:t> B</a:t>
            </a:r>
          </a:p>
          <a:p>
            <a:pPr>
              <a:lnSpc>
                <a:spcPct val="130000"/>
              </a:lnSpc>
              <a:spcBef>
                <a:spcPts val="600"/>
              </a:spcBef>
            </a:pPr>
            <a:r>
              <a:rPr sz="1100">
                <a:solidFill>
                  <a:srgbClr val="5D6875"/>
                </a:solidFill>
                <a:latin typeface="Avenir Next"/>
              </a:rPr>
              <a:t>Indians who rely on a language other than English to get help</a:t>
            </a:r>
          </a:p>
        </p:txBody>
      </p:sp>
      <p:sp>
        <p:nvSpPr>
          <p:cNvPr id="5" name="TextBox 4"/>
          <p:cNvSpPr txBox="1"/>
          <p:nvPr/>
        </p:nvSpPr>
        <p:spPr>
          <a:xfrm>
            <a:off x="3516553" y="3017520"/>
            <a:ext cx="2419273" cy="1371600"/>
          </a:xfrm>
          <a:prstGeom prst="rect">
            <a:avLst/>
          </a:prstGeom>
          <a:noFill/>
        </p:spPr>
        <p:txBody>
          <a:bodyPr wrap="square" lIns="0" rIns="0" tIns="0" bIns="0">
            <a:spAutoFit/>
          </a:bodyPr>
          <a:lstStyle/>
          <a:p>
            <a:r>
              <a:rPr sz="3800" b="1">
                <a:solidFill>
                  <a:srgbClr val="131A24"/>
                </a:solidFill>
                <a:latin typeface="Iowan Old Style"/>
              </a:rPr>
              <a:t>10–19</a:t>
            </a:r>
            <a:r>
              <a:rPr sz="1700">
                <a:solidFill>
                  <a:srgbClr val="7C8593"/>
                </a:solidFill>
                <a:latin typeface="Iowan Old Style"/>
              </a:rPr>
              <a:t> %</a:t>
            </a:r>
          </a:p>
          <a:p>
            <a:pPr>
              <a:lnSpc>
                <a:spcPct val="130000"/>
              </a:lnSpc>
              <a:spcBef>
                <a:spcPts val="600"/>
              </a:spcBef>
            </a:pPr>
            <a:r>
              <a:rPr sz="1100">
                <a:solidFill>
                  <a:srgbClr val="5D6875"/>
                </a:solidFill>
                <a:latin typeface="Avenir Next"/>
              </a:rPr>
              <a:t>Speak English fluently — the language most support is built in</a:t>
            </a:r>
          </a:p>
        </p:txBody>
      </p:sp>
      <p:sp>
        <p:nvSpPr>
          <p:cNvPr id="6" name="TextBox 5"/>
          <p:cNvSpPr txBox="1"/>
          <p:nvPr/>
        </p:nvSpPr>
        <p:spPr>
          <a:xfrm>
            <a:off x="6255866" y="3017520"/>
            <a:ext cx="2419273" cy="1371600"/>
          </a:xfrm>
          <a:prstGeom prst="rect">
            <a:avLst/>
          </a:prstGeom>
          <a:noFill/>
        </p:spPr>
        <p:txBody>
          <a:bodyPr wrap="square" lIns="0" rIns="0" tIns="0" bIns="0">
            <a:spAutoFit/>
          </a:bodyPr>
          <a:lstStyle/>
          <a:p>
            <a:r>
              <a:rPr sz="3800" b="1">
                <a:solidFill>
                  <a:srgbClr val="131A24"/>
                </a:solidFill>
                <a:latin typeface="Iowan Old Style"/>
              </a:rPr>
              <a:t>76.1</a:t>
            </a:r>
            <a:r>
              <a:rPr sz="1700">
                <a:solidFill>
                  <a:srgbClr val="7C8593"/>
                </a:solidFill>
                <a:latin typeface="Iowan Old Style"/>
              </a:rPr>
              <a:t> M</a:t>
            </a:r>
          </a:p>
          <a:p>
            <a:pPr>
              <a:lnSpc>
                <a:spcPct val="130000"/>
              </a:lnSpc>
              <a:spcBef>
                <a:spcPts val="600"/>
              </a:spcBef>
            </a:pPr>
            <a:r>
              <a:rPr sz="1100">
                <a:solidFill>
                  <a:srgbClr val="5D6875"/>
                </a:solidFill>
                <a:latin typeface="Avenir Next"/>
              </a:rPr>
              <a:t>Udyam-registered MSMEs, 99.3% of them micro-enterprises</a:t>
            </a:r>
          </a:p>
        </p:txBody>
      </p:sp>
      <p:sp>
        <p:nvSpPr>
          <p:cNvPr id="7" name="TextBox 6"/>
          <p:cNvSpPr txBox="1"/>
          <p:nvPr/>
        </p:nvSpPr>
        <p:spPr>
          <a:xfrm>
            <a:off x="8995179" y="3017520"/>
            <a:ext cx="2419273" cy="1371600"/>
          </a:xfrm>
          <a:prstGeom prst="rect">
            <a:avLst/>
          </a:prstGeom>
          <a:noFill/>
        </p:spPr>
        <p:txBody>
          <a:bodyPr wrap="square" lIns="0" rIns="0" tIns="0" bIns="0">
            <a:spAutoFit/>
          </a:bodyPr>
          <a:lstStyle/>
          <a:p>
            <a:r>
              <a:rPr sz="3800" b="1">
                <a:solidFill>
                  <a:srgbClr val="131A24"/>
                </a:solidFill>
                <a:latin typeface="Iowan Old Style"/>
              </a:rPr>
              <a:t>&lt;1</a:t>
            </a:r>
            <a:r>
              <a:rPr sz="1700">
                <a:solidFill>
                  <a:srgbClr val="7C8593"/>
                </a:solidFill>
                <a:latin typeface="Iowan Old Style"/>
              </a:rPr>
              <a:t> in 5</a:t>
            </a:r>
          </a:p>
          <a:p>
            <a:pPr>
              <a:lnSpc>
                <a:spcPct val="130000"/>
              </a:lnSpc>
              <a:spcBef>
                <a:spcPts val="600"/>
              </a:spcBef>
            </a:pPr>
            <a:r>
              <a:rPr sz="1100">
                <a:solidFill>
                  <a:srgbClr val="5D6875"/>
                </a:solidFill>
                <a:latin typeface="Avenir Next"/>
              </a:rPr>
              <a:t>Use any CRM or ERP at all. Most support is a phone and a person</a:t>
            </a:r>
          </a:p>
        </p:txBody>
      </p:sp>
      <p:sp>
        <p:nvSpPr>
          <p:cNvPr id="8" name="Rectangle 7"/>
          <p:cNvSpPr/>
          <p:nvPr/>
        </p:nvSpPr>
        <p:spPr>
          <a:xfrm>
            <a:off x="777240" y="4892040"/>
            <a:ext cx="10637215" cy="9525"/>
          </a:xfrm>
          <a:prstGeom prst="rect">
            <a:avLst/>
          </a:prstGeom>
          <a:solidFill>
            <a:srgbClr val="DD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120640"/>
            <a:ext cx="8778240" cy="1188720"/>
          </a:xfrm>
          <a:prstGeom prst="rect">
            <a:avLst/>
          </a:prstGeom>
          <a:noFill/>
        </p:spPr>
        <p:txBody>
          <a:bodyPr wrap="square" lIns="0" rIns="0" tIns="0" bIns="0">
            <a:spAutoFit/>
          </a:bodyPr>
          <a:lstStyle/>
          <a:p>
            <a:pPr>
              <a:lnSpc>
                <a:spcPct val="140000"/>
              </a:lnSpc>
              <a:spcAft>
                <a:spcPts val="0"/>
              </a:spcAft>
            </a:pPr>
            <a:r>
              <a:rPr sz="1400" b="0" i="0">
                <a:solidFill>
                  <a:srgbClr val="5D6875"/>
                </a:solidFill>
                <a:latin typeface="Avenir Next"/>
              </a:rPr>
              <a:t>The people least able to navigate an English IVR are exactly the people whose businesses can least afford a support desk. Both ends of the problem are unserved by the same gap.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03</a:t>
            </a:r>
            <a:r>
              <a:rPr sz="900">
                <a:solidFill>
                  <a:srgbClr val="7C8593"/>
                </a:solidFill>
                <a:latin typeface="Menlo"/>
              </a:rPr>
              <a:t>     WHY IT STAYS BROKEN</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400" b="1" i="0">
                <a:solidFill>
                  <a:srgbClr val="131A24"/>
                </a:solidFill>
                <a:latin typeface="Iowan Old Style"/>
              </a:rPr>
              <a:t>Every company is building
the same stack, alone.</a:t>
            </a:r>
          </a:p>
        </p:txBody>
      </p:sp>
      <p:sp>
        <p:nvSpPr>
          <p:cNvPr id="4" name="TextBox 3"/>
          <p:cNvSpPr txBox="1"/>
          <p:nvPr/>
        </p:nvSpPr>
        <p:spPr>
          <a:xfrm>
            <a:off x="777240" y="2834640"/>
            <a:ext cx="5486400" cy="2743200"/>
          </a:xfrm>
          <a:prstGeom prst="rect">
            <a:avLst/>
          </a:prstGeom>
          <a:noFill/>
        </p:spPr>
        <p:txBody>
          <a:bodyPr wrap="square" lIns="0" rIns="0" tIns="0" bIns="0">
            <a:spAutoFit/>
          </a:bodyPr>
          <a:lstStyle/>
          <a:p>
            <a:pPr>
              <a:lnSpc>
                <a:spcPct val="145000"/>
              </a:lnSpc>
              <a:spcAft>
                <a:spcPts val="1400"/>
              </a:spcAft>
            </a:pPr>
            <a:r>
              <a:rPr sz="1400" b="0" i="0">
                <a:solidFill>
                  <a:srgbClr val="5D6875"/>
                </a:solidFill>
                <a:latin typeface="Avenir Next"/>
              </a:rPr>
              <a:t>A customer with an order problem, a broadband cancellation and a doctor's appointment juggles three apps, three logins, three IVRs and three chatbots — each built from scratch, each English-first.</a:t>
            </a:r>
          </a:p>
          <a:p>
            <a:pPr>
              <a:lnSpc>
                <a:spcPct val="145000"/>
              </a:lnSpc>
              <a:spcAft>
                <a:spcPts val="0"/>
              </a:spcAft>
            </a:pPr>
            <a:r>
              <a:rPr sz="1400" b="0" i="0">
                <a:solidFill>
                  <a:srgbClr val="5D6875"/>
                </a:solidFill>
                <a:latin typeface="Avenir Next"/>
              </a:rPr>
              <a:t>Every business pays to rebuild intent classification, slot filling, escalation and API plumbing that is identical across all of them. The only thing that genuinely differs is which capabilities exist and which endpoint each one calls.</a:t>
            </a:r>
          </a:p>
        </p:txBody>
      </p:sp>
      <p:sp>
        <p:nvSpPr>
          <p:cNvPr id="5" name="Rectangle 4"/>
          <p:cNvSpPr/>
          <p:nvPr/>
        </p:nvSpPr>
        <p:spPr>
          <a:xfrm>
            <a:off x="6812280" y="2834640"/>
            <a:ext cx="4602175" cy="278892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86600" y="3072384"/>
            <a:ext cx="4053535" cy="2377440"/>
          </a:xfrm>
          <a:prstGeom prst="rect">
            <a:avLst/>
          </a:prstGeom>
          <a:noFill/>
        </p:spPr>
        <p:txBody>
          <a:bodyPr wrap="square" lIns="0" rIns="0" tIns="0" bIns="0">
            <a:spAutoFit/>
          </a:bodyPr>
          <a:lstStyle/>
          <a:p>
            <a:pPr>
              <a:spcAft>
                <a:spcPts val="1200"/>
              </a:spcAft>
            </a:pPr>
            <a:r>
              <a:rPr sz="1600" b="1" i="0">
                <a:solidFill>
                  <a:srgbClr val="131A24"/>
                </a:solidFill>
                <a:latin typeface="Iowan Old Style"/>
              </a:rPr>
              <a:t>What is actually company-specific</a:t>
            </a:r>
          </a:p>
          <a:p>
            <a:pPr>
              <a:spcAft>
                <a:spcPts val="700"/>
              </a:spcAft>
            </a:pPr>
            <a:r>
              <a:rPr sz="1200">
                <a:solidFill>
                  <a:srgbClr val="B87A0D"/>
                </a:solidFill>
                <a:latin typeface="Menlo"/>
              </a:rPr>
              <a:t>— </a:t>
            </a:r>
            <a:r>
              <a:rPr sz="1200">
                <a:solidFill>
                  <a:srgbClr val="5D6875"/>
                </a:solidFill>
                <a:latin typeface="Avenir Next"/>
              </a:rPr>
              <a:t>The list of things a customer can do</a:t>
            </a:r>
          </a:p>
          <a:p>
            <a:pPr>
              <a:spcAft>
                <a:spcPts val="700"/>
              </a:spcAft>
            </a:pPr>
            <a:r>
              <a:rPr sz="1200">
                <a:solidFill>
                  <a:srgbClr val="B87A0D"/>
                </a:solidFill>
                <a:latin typeface="Menlo"/>
              </a:rPr>
              <a:t>— </a:t>
            </a:r>
            <a:r>
              <a:rPr sz="1200">
                <a:solidFill>
                  <a:srgbClr val="5D6875"/>
                </a:solidFill>
                <a:latin typeface="Avenir Next"/>
              </a:rPr>
              <a:t>What each one needs to know first</a:t>
            </a:r>
          </a:p>
          <a:p>
            <a:pPr>
              <a:spcAft>
                <a:spcPts val="700"/>
              </a:spcAft>
            </a:pPr>
            <a:r>
              <a:rPr sz="1200">
                <a:solidFill>
                  <a:srgbClr val="B87A0D"/>
                </a:solidFill>
                <a:latin typeface="Menlo"/>
              </a:rPr>
              <a:t>— </a:t>
            </a:r>
            <a:r>
              <a:rPr sz="1200">
                <a:solidFill>
                  <a:srgbClr val="5D6875"/>
                </a:solidFill>
                <a:latin typeface="Avenir Next"/>
              </a:rPr>
              <a:t>Which rules block it</a:t>
            </a:r>
          </a:p>
          <a:p>
            <a:pPr>
              <a:spcAft>
                <a:spcPts val="700"/>
              </a:spcAft>
            </a:pPr>
            <a:r>
              <a:rPr sz="1200">
                <a:solidFill>
                  <a:srgbClr val="B87A0D"/>
                </a:solidFill>
                <a:latin typeface="Menlo"/>
              </a:rPr>
              <a:t>— </a:t>
            </a:r>
            <a:r>
              <a:rPr sz="1200">
                <a:solidFill>
                  <a:srgbClr val="5D6875"/>
                </a:solidFill>
                <a:latin typeface="Avenir Next"/>
              </a:rPr>
              <a:t>Which endpoint completes it</a:t>
            </a:r>
          </a:p>
          <a:p>
            <a:pPr>
              <a:lnSpc>
                <a:spcPct val="135000"/>
              </a:lnSpc>
              <a:spcAft>
                <a:spcPts val="0"/>
              </a:spcAft>
            </a:pPr>
            <a:r>
              <a:rPr sz="1150" b="1" i="0">
                <a:solidFill>
                  <a:srgbClr val="131A24"/>
                </a:solidFill>
                <a:latin typeface="Avenir Next"/>
              </a:rPr>
              <a:t>That is a description, not a codebase.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04</a:t>
            </a:r>
            <a:r>
              <a:rPr sz="900">
                <a:solidFill>
                  <a:srgbClr val="7C8593"/>
                </a:solidFill>
                <a:latin typeface="Menlo"/>
              </a:rPr>
              <a:t>     THE INSIGHT</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400" b="1" i="0">
                <a:solidFill>
                  <a:srgbClr val="131A24"/>
                </a:solidFill>
                <a:latin typeface="Iowan Old Style"/>
              </a:rPr>
              <a:t>Everyone is shipping chatbots.
The missing layer is a protocol.</a:t>
            </a:r>
          </a:p>
        </p:txBody>
      </p:sp>
      <p:sp>
        <p:nvSpPr>
          <p:cNvPr id="4" name="Rectangle 3"/>
          <p:cNvSpPr/>
          <p:nvPr/>
        </p:nvSpPr>
        <p:spPr>
          <a:xfrm>
            <a:off x="777240" y="2926080"/>
            <a:ext cx="5158587" cy="210312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 y="3163824"/>
            <a:ext cx="4646523" cy="1627632"/>
          </a:xfrm>
          <a:prstGeom prst="rect">
            <a:avLst/>
          </a:prstGeom>
          <a:noFill/>
        </p:spPr>
        <p:txBody>
          <a:bodyPr wrap="square" lIns="0" rIns="0" tIns="0" bIns="0">
            <a:spAutoFit/>
          </a:bodyPr>
          <a:lstStyle/>
          <a:p>
            <a:pPr>
              <a:spcAft>
                <a:spcPts val="800"/>
              </a:spcAft>
            </a:pPr>
            <a:r>
              <a:rPr sz="900" b="0" i="0">
                <a:solidFill>
                  <a:srgbClr val="7C8593"/>
                </a:solidFill>
                <a:latin typeface="Menlo"/>
              </a:rPr>
              <a:t>THE CROWDED ANSWER</a:t>
            </a:r>
          </a:p>
          <a:p>
            <a:pPr>
              <a:lnSpc>
                <a:spcPct val="115000"/>
              </a:lnSpc>
              <a:spcAft>
                <a:spcPts val="800"/>
              </a:spcAft>
            </a:pPr>
            <a:r>
              <a:rPr sz="1600" b="1" i="0">
                <a:solidFill>
                  <a:srgbClr val="131A24"/>
                </a:solidFill>
                <a:latin typeface="Iowan Old Style"/>
              </a:rPr>
              <a:t>One assistant per company</a:t>
            </a:r>
          </a:p>
          <a:p>
            <a:pPr>
              <a:lnSpc>
                <a:spcPct val="140000"/>
              </a:lnSpc>
              <a:spcAft>
                <a:spcPts val="0"/>
              </a:spcAft>
            </a:pPr>
            <a:r>
              <a:rPr sz="1150" b="0" i="0">
                <a:solidFill>
                  <a:srgbClr val="5D6875"/>
                </a:solidFill>
                <a:latin typeface="Avenir Next"/>
              </a:rPr>
              <a:t>N companies → N integrations → N assistants. Each has to be sold, built, tuned and maintained separately. Support quality tracks engineering budget, so the smallest businesses get nothing.</a:t>
            </a:r>
          </a:p>
        </p:txBody>
      </p:sp>
      <p:sp>
        <p:nvSpPr>
          <p:cNvPr id="6" name="Rectangle 5"/>
          <p:cNvSpPr/>
          <p:nvPr/>
        </p:nvSpPr>
        <p:spPr>
          <a:xfrm>
            <a:off x="6255867" y="2926080"/>
            <a:ext cx="5158587" cy="2103120"/>
          </a:xfrm>
          <a:prstGeom prst="rect">
            <a:avLst/>
          </a:prstGeom>
          <a:solidFill>
            <a:srgbClr val="FFFFFF"/>
          </a:solidFill>
          <a:ln w="9525">
            <a:solidFill>
              <a:srgbClr val="B87A0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1899" y="3163824"/>
            <a:ext cx="4646523" cy="1627632"/>
          </a:xfrm>
          <a:prstGeom prst="rect">
            <a:avLst/>
          </a:prstGeom>
          <a:noFill/>
        </p:spPr>
        <p:txBody>
          <a:bodyPr wrap="square" lIns="0" rIns="0" tIns="0" bIns="0">
            <a:spAutoFit/>
          </a:bodyPr>
          <a:lstStyle/>
          <a:p>
            <a:pPr>
              <a:spcAft>
                <a:spcPts val="800"/>
              </a:spcAft>
            </a:pPr>
            <a:r>
              <a:rPr sz="900" b="0" i="0">
                <a:solidFill>
                  <a:srgbClr val="B87A0D"/>
                </a:solidFill>
                <a:latin typeface="Menlo"/>
              </a:rPr>
              <a:t>UCXP</a:t>
            </a:r>
          </a:p>
          <a:p>
            <a:pPr>
              <a:lnSpc>
                <a:spcPct val="115000"/>
              </a:lnSpc>
              <a:spcAft>
                <a:spcPts val="800"/>
              </a:spcAft>
            </a:pPr>
            <a:r>
              <a:rPr sz="1600" b="1" i="0">
                <a:solidFill>
                  <a:srgbClr val="131A24"/>
                </a:solidFill>
                <a:latin typeface="Iowan Old Style"/>
              </a:rPr>
              <a:t>One manifest per company</a:t>
            </a:r>
          </a:p>
          <a:p>
            <a:pPr>
              <a:lnSpc>
                <a:spcPct val="140000"/>
              </a:lnSpc>
              <a:spcAft>
                <a:spcPts val="0"/>
              </a:spcAft>
            </a:pPr>
            <a:r>
              <a:rPr sz="1150" b="0" i="0">
                <a:solidFill>
                  <a:srgbClr val="5D6875"/>
                </a:solidFill>
                <a:latin typeface="Avenir Next"/>
              </a:rPr>
              <a:t>N companies → N files → any compliant client serves all of them. The work is a description a business writes once, not an integration someone builds every time.</a:t>
            </a:r>
          </a:p>
        </p:txBody>
      </p:sp>
      <p:sp>
        <p:nvSpPr>
          <p:cNvPr id="8" name="Rectangle 7"/>
          <p:cNvSpPr/>
          <p:nvPr/>
        </p:nvSpPr>
        <p:spPr>
          <a:xfrm>
            <a:off x="777240" y="5257800"/>
            <a:ext cx="10637215" cy="9525"/>
          </a:xfrm>
          <a:prstGeom prst="rect">
            <a:avLst/>
          </a:prstGeom>
          <a:solidFill>
            <a:srgbClr val="DD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486400"/>
            <a:ext cx="8778240" cy="1188720"/>
          </a:xfrm>
          <a:prstGeom prst="rect">
            <a:avLst/>
          </a:prstGeom>
          <a:noFill/>
        </p:spPr>
        <p:txBody>
          <a:bodyPr wrap="square" lIns="0" rIns="0" tIns="0" bIns="0">
            <a:spAutoFit/>
          </a:bodyPr>
          <a:lstStyle/>
          <a:p>
            <a:pPr>
              <a:lnSpc>
                <a:spcPct val="140000"/>
              </a:lnSpc>
              <a:spcAft>
                <a:spcPts val="0"/>
              </a:spcAft>
            </a:pPr>
            <a:r>
              <a:rPr sz="1400" b="0" i="0">
                <a:solidFill>
                  <a:srgbClr val="5D6875"/>
                </a:solidFill>
                <a:latin typeface="Avenir Next"/>
              </a:rPr>
              <a:t>OpenAPI standardised how software exposes endpoints. MCP standardised how tools reach models. Nothing yet standardises how a business exposes the jobs a customer needs done.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05</a:t>
            </a:r>
            <a:r>
              <a:rPr sz="900">
                <a:solidFill>
                  <a:srgbClr val="7C8593"/>
                </a:solidFill>
                <a:latin typeface="Menlo"/>
              </a:rPr>
              <a:t>     THE ARTEFACT</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200" b="1" i="0">
                <a:solidFill>
                  <a:srgbClr val="131A24"/>
                </a:solidFill>
                <a:latin typeface="Iowan Old Style"/>
              </a:rPr>
              <a:t>A business joins by publishing a file.</a:t>
            </a:r>
          </a:p>
        </p:txBody>
      </p:sp>
      <p:sp>
        <p:nvSpPr>
          <p:cNvPr id="4" name="Rectangle 3"/>
          <p:cNvSpPr/>
          <p:nvPr/>
        </p:nvSpPr>
        <p:spPr>
          <a:xfrm>
            <a:off x="777240" y="2148840"/>
            <a:ext cx="5943600" cy="4114800"/>
          </a:xfrm>
          <a:prstGeom prst="rect">
            <a:avLst/>
          </a:prstGeom>
          <a:solidFill>
            <a:srgbClr val="F1EFE9"/>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286000"/>
            <a:ext cx="5486400" cy="3840480"/>
          </a:xfrm>
          <a:prstGeom prst="rect">
            <a:avLst/>
          </a:prstGeom>
          <a:noFill/>
        </p:spPr>
        <p:txBody>
          <a:bodyPr wrap="square" lIns="0" rIns="0" tIns="0" bIns="0">
            <a:spAutoFit/>
          </a:bodyPr>
          <a:lstStyle/>
          <a:p>
            <a:pPr>
              <a:lnSpc>
                <a:spcPct val="122000"/>
              </a:lnSpc>
            </a:pPr>
            <a:r>
              <a:rPr sz="950">
                <a:solidFill>
                  <a:srgbClr val="5D6875"/>
                </a:solidFill>
                <a:latin typeface="Menlo"/>
              </a:rPr>
              <a:t>{</a:t>
            </a:r>
          </a:p>
          <a:p>
            <a:pPr>
              <a:lnSpc>
                <a:spcPct val="122000"/>
              </a:lnSpc>
            </a:pPr>
            <a:r>
              <a:rPr sz="950">
                <a:solidFill>
                  <a:srgbClr val="5D6875"/>
                </a:solidFill>
                <a:latin typeface="Menlo"/>
              </a:rPr>
              <a:t>  "ucxp_version": "0.1",</a:t>
            </a:r>
          </a:p>
          <a:p>
            <a:pPr>
              <a:lnSpc>
                <a:spcPct val="122000"/>
              </a:lnSpc>
            </a:pPr>
            <a:r>
              <a:rPr sz="950">
                <a:solidFill>
                  <a:srgbClr val="5D6875"/>
                </a:solidFill>
                <a:latin typeface="Menlo"/>
              </a:rPr>
              <a:t>  "business": { "id": "flipkart",</a:t>
            </a:r>
          </a:p>
          <a:p>
            <a:pPr>
              <a:lnSpc>
                <a:spcPct val="122000"/>
              </a:lnSpc>
            </a:pPr>
            <a:r>
              <a:rPr sz="950">
                <a:solidFill>
                  <a:srgbClr val="5D6875"/>
                </a:solidFill>
                <a:latin typeface="Menlo"/>
              </a:rPr>
              <a:t>    "languages": ["en-IN","hi-IN","te-IN","ta-IN"] },</a:t>
            </a:r>
          </a:p>
          <a:p>
            <a:pPr>
              <a:lnSpc>
                <a:spcPct val="122000"/>
              </a:lnSpc>
            </a:pPr>
            <a:r>
              <a:rPr sz="950">
                <a:solidFill>
                  <a:srgbClr val="5D6875"/>
                </a:solidFill>
                <a:latin typeface="Menlo"/>
              </a:rPr>
              <a:t/>
            </a:r>
          </a:p>
          <a:p>
            <a:pPr>
              <a:lnSpc>
                <a:spcPct val="122000"/>
              </a:lnSpc>
            </a:pPr>
            <a:r>
              <a:rPr sz="950">
                <a:solidFill>
                  <a:srgbClr val="5D6875"/>
                </a:solidFill>
                <a:latin typeface="Menlo"/>
              </a:rPr>
              <a:t>  "capabilities": [{</a:t>
            </a:r>
          </a:p>
          <a:p>
            <a:pPr>
              <a:lnSpc>
                <a:spcPct val="122000"/>
              </a:lnSpc>
            </a:pPr>
            <a:r>
              <a:rPr sz="950">
                <a:solidFill>
                  <a:srgbClr val="5D6875"/>
                </a:solidFill>
                <a:latin typeface="Menlo"/>
              </a:rPr>
              <a:t>    "id": "track_order",</a:t>
            </a:r>
          </a:p>
          <a:p>
            <a:pPr>
              <a:lnSpc>
                <a:spcPct val="122000"/>
              </a:lnSpc>
            </a:pPr>
            <a:r>
              <a:rPr sz="950">
                <a:solidFill>
                  <a:srgbClr val="5D6875"/>
                </a:solidFill>
                <a:latin typeface="Menlo"/>
              </a:rPr>
              <a:t>    "examples": ["where is my order",</a:t>
            </a:r>
          </a:p>
          <a:p>
            <a:pPr>
              <a:lnSpc>
                <a:spcPct val="122000"/>
              </a:lnSpc>
            </a:pPr>
            <a:r>
              <a:rPr sz="950">
                <a:solidFill>
                  <a:srgbClr val="5D6875"/>
                </a:solidFill>
              </a:rPr>
              <a:t>                 "मेरा ऑर्डर कहाँ है",</a:t>
            </a:r>
          </a:p>
          <a:p>
            <a:pPr>
              <a:lnSpc>
                <a:spcPct val="122000"/>
              </a:lnSpc>
            </a:pPr>
            <a:r>
              <a:rPr sz="950">
                <a:solidFill>
                  <a:srgbClr val="5D6875"/>
                </a:solidFill>
              </a:rPr>
              <a:t>                 "నా ఆర్డర్ ఎక్కడ ఉంది"],</a:t>
            </a:r>
          </a:p>
          <a:p>
            <a:pPr>
              <a:lnSpc>
                <a:spcPct val="122000"/>
              </a:lnSpc>
            </a:pPr>
            <a:r>
              <a:rPr sz="950">
                <a:solidFill>
                  <a:srgbClr val="5D6875"/>
                </a:solidFill>
                <a:latin typeface="Menlo"/>
              </a:rPr>
              <a:t>    "required_inputs": [{ "name": "order_id",</a:t>
            </a:r>
          </a:p>
          <a:p>
            <a:pPr>
              <a:lnSpc>
                <a:spcPct val="122000"/>
              </a:lnSpc>
            </a:pPr>
            <a:r>
              <a:rPr sz="950">
                <a:solidFill>
                  <a:srgbClr val="5D6875"/>
                </a:solidFill>
                <a:latin typeface="Menlo"/>
              </a:rPr>
              <a:t>      "prompt": "What's your order ID?",</a:t>
            </a:r>
          </a:p>
          <a:p>
            <a:pPr>
              <a:lnSpc>
                <a:spcPct val="122000"/>
              </a:lnSpc>
            </a:pPr>
            <a:r>
              <a:rPr sz="950">
                <a:solidFill>
                  <a:srgbClr val="5D6875"/>
                </a:solidFill>
                <a:latin typeface="Menlo"/>
              </a:rPr>
              <a:t>      "default_from": "context.last_order_id" }],</a:t>
            </a:r>
          </a:p>
          <a:p>
            <a:pPr>
              <a:lnSpc>
                <a:spcPct val="122000"/>
              </a:lnSpc>
            </a:pPr>
            <a:r>
              <a:rPr sz="950">
                <a:solidFill>
                  <a:srgbClr val="5D6875"/>
                </a:solidFill>
                <a:latin typeface="Menlo"/>
              </a:rPr>
              <a:t>    "rules": [{ "when": "days_since_delivery &gt; 7",</a:t>
            </a:r>
          </a:p>
          <a:p>
            <a:pPr>
              <a:lnSpc>
                <a:spcPct val="122000"/>
              </a:lnSpc>
            </a:pPr>
            <a:r>
              <a:rPr sz="950">
                <a:solidFill>
                  <a:srgbClr val="5D6875"/>
                </a:solidFill>
                <a:latin typeface="Menlo"/>
              </a:rPr>
              <a:t>      "deny": "Refunds close 7 days after delivery" }],</a:t>
            </a:r>
          </a:p>
          <a:p>
            <a:pPr>
              <a:lnSpc>
                <a:spcPct val="122000"/>
              </a:lnSpc>
            </a:pPr>
            <a:r>
              <a:rPr sz="950">
                <a:solidFill>
                  <a:srgbClr val="5D6875"/>
                </a:solidFill>
                <a:latin typeface="Menlo"/>
              </a:rPr>
              <a:t>    "action": "get_order_status",</a:t>
            </a:r>
          </a:p>
          <a:p>
            <a:pPr>
              <a:lnSpc>
                <a:spcPct val="122000"/>
              </a:lnSpc>
            </a:pPr>
            <a:r>
              <a:rPr sz="950">
                <a:solidFill>
                  <a:srgbClr val="5D6875"/>
                </a:solidFill>
                <a:latin typeface="Menlo"/>
              </a:rPr>
              <a:t>    "receipt": { "label": "Arriving {{result.eta}}" }</a:t>
            </a:r>
          </a:p>
          <a:p>
            <a:pPr>
              <a:lnSpc>
                <a:spcPct val="122000"/>
              </a:lnSpc>
            </a:pPr>
            <a:r>
              <a:rPr sz="950">
                <a:solidFill>
                  <a:srgbClr val="5D6875"/>
                </a:solidFill>
                <a:latin typeface="Menlo"/>
              </a:rPr>
              <a:t>  }],</a:t>
            </a:r>
          </a:p>
          <a:p>
            <a:pPr>
              <a:lnSpc>
                <a:spcPct val="122000"/>
              </a:lnSpc>
            </a:pPr>
            <a:r>
              <a:rPr sz="950">
                <a:solidFill>
                  <a:srgbClr val="5D6875"/>
                </a:solidFill>
                <a:latin typeface="Menlo"/>
              </a:rPr>
              <a:t/>
            </a:r>
          </a:p>
          <a:p>
            <a:pPr>
              <a:lnSpc>
                <a:spcPct val="122000"/>
              </a:lnSpc>
            </a:pPr>
            <a:r>
              <a:rPr sz="950">
                <a:solidFill>
                  <a:srgbClr val="5D6875"/>
                </a:solidFill>
                <a:latin typeface="Menlo"/>
              </a:rPr>
              <a:t>  "endpoints": [{ "id": "get_order_status",</a:t>
            </a:r>
          </a:p>
          <a:p>
            <a:pPr>
              <a:lnSpc>
                <a:spcPct val="122000"/>
              </a:lnSpc>
            </a:pPr>
            <a:r>
              <a:rPr sz="950">
                <a:solidFill>
                  <a:srgbClr val="5D6875"/>
                </a:solidFill>
                <a:latin typeface="Menlo"/>
              </a:rPr>
              <a:t>    "url": "{{base}}/flipkart/orders/{{order_id}}" }]</a:t>
            </a:r>
          </a:p>
          <a:p>
            <a:pPr>
              <a:lnSpc>
                <a:spcPct val="122000"/>
              </a:lnSpc>
            </a:pPr>
            <a:r>
              <a:rPr sz="950">
                <a:solidFill>
                  <a:srgbClr val="5D6875"/>
                </a:solidFill>
                <a:latin typeface="Menlo"/>
              </a:rPr>
              <a:t>}</a:t>
            </a:r>
          </a:p>
        </p:txBody>
      </p:sp>
      <p:sp>
        <p:nvSpPr>
          <p:cNvPr id="6" name="TextBox 5"/>
          <p:cNvSpPr txBox="1"/>
          <p:nvPr/>
        </p:nvSpPr>
        <p:spPr>
          <a:xfrm>
            <a:off x="7132320" y="2240280"/>
            <a:ext cx="4282135" cy="3840480"/>
          </a:xfrm>
          <a:prstGeom prst="rect">
            <a:avLst/>
          </a:prstGeom>
          <a:noFill/>
        </p:spPr>
        <p:txBody>
          <a:bodyPr wrap="square" lIns="0" rIns="0" tIns="0" bIns="0">
            <a:spAutoFit/>
          </a:bodyPr>
          <a:lstStyle/>
          <a:p>
            <a:pPr>
              <a:lnSpc>
                <a:spcPct val="145000"/>
              </a:lnSpc>
              <a:spcAft>
                <a:spcPts val="1400"/>
              </a:spcAft>
            </a:pPr>
            <a:r>
              <a:rPr sz="1350" b="0" i="0">
                <a:solidFill>
                  <a:srgbClr val="5D6875"/>
                </a:solidFill>
                <a:latin typeface="Avenir Next"/>
              </a:rPr>
              <a:t>The manifest declares capabilities a customer can invoke, the inputs each needs, the rules that gate it, the endpoint that completes it, and the receipt the customer gets back.</a:t>
            </a:r>
          </a:p>
          <a:p>
            <a:pPr>
              <a:lnSpc>
                <a:spcPct val="145000"/>
              </a:lnSpc>
              <a:spcAft>
                <a:spcPts val="1400"/>
              </a:spcAft>
            </a:pPr>
            <a:r>
              <a:rPr sz="1350" b="0" i="0">
                <a:solidFill>
                  <a:srgbClr val="5D6875"/>
                </a:solidFill>
                <a:latin typeface="Avenir Next"/>
              </a:rPr>
              <a:t>Multilingual examples live in the manifest, so a business teaches the protocol its own vocabulary — including brand names transliterated into every script its customers actually type.</a:t>
            </a:r>
          </a:p>
          <a:p>
            <a:pPr>
              <a:lnSpc>
                <a:spcPct val="140000"/>
              </a:lnSpc>
              <a:spcAft>
                <a:spcPts val="0"/>
              </a:spcAft>
            </a:pPr>
            <a:r>
              <a:rPr sz="1150" b="0" i="0">
                <a:solidFill>
                  <a:srgbClr val="7C8593"/>
                </a:solidFill>
                <a:latin typeface="Avenir Next"/>
              </a:rPr>
              <a:t>Onboarding is authoring a description. Sarvam's own LLM can draft it from support docs and a Swagger file, which turns the sales motion into “upload your PDFs”.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06</a:t>
            </a:r>
            <a:r>
              <a:rPr sz="900">
                <a:solidFill>
                  <a:srgbClr val="7C8593"/>
                </a:solidFill>
                <a:latin typeface="Menlo"/>
              </a:rPr>
              <a:t>     THE RUNTIME</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200" b="1" i="0">
                <a:solidFill>
                  <a:srgbClr val="131A24"/>
                </a:solidFill>
                <a:latin typeface="Iowan Old Style"/>
              </a:rPr>
              <a:t>The engine has never heard of Flipkart.</a:t>
            </a:r>
          </a:p>
        </p:txBody>
      </p:sp>
      <p:sp>
        <p:nvSpPr>
          <p:cNvPr id="4" name="Rectangle 3"/>
          <p:cNvSpPr/>
          <p:nvPr/>
        </p:nvSpPr>
        <p:spPr>
          <a:xfrm>
            <a:off x="777240" y="2103120"/>
            <a:ext cx="2377440" cy="45720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2221992"/>
            <a:ext cx="2157984" cy="274320"/>
          </a:xfrm>
          <a:prstGeom prst="rect">
            <a:avLst/>
          </a:prstGeom>
          <a:noFill/>
        </p:spPr>
        <p:txBody>
          <a:bodyPr wrap="square" lIns="0" rIns="0" tIns="0" bIns="0">
            <a:spAutoFit/>
          </a:bodyPr>
          <a:lstStyle/>
          <a:p>
            <a:pPr algn="ctr"/>
            <a:r>
              <a:rPr sz="1050" b="0">
                <a:solidFill>
                  <a:srgbClr val="131A24"/>
                </a:solidFill>
                <a:latin typeface="Menlo"/>
              </a:rPr>
              <a:t>React Native app</a:t>
            </a:r>
          </a:p>
        </p:txBody>
      </p:sp>
      <p:sp>
        <p:nvSpPr>
          <p:cNvPr id="6" name="Rectangle 5"/>
          <p:cNvSpPr/>
          <p:nvPr/>
        </p:nvSpPr>
        <p:spPr>
          <a:xfrm>
            <a:off x="3383280" y="2103120"/>
            <a:ext cx="2377440" cy="45720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93008" y="2221992"/>
            <a:ext cx="2157984" cy="274320"/>
          </a:xfrm>
          <a:prstGeom prst="rect">
            <a:avLst/>
          </a:prstGeom>
          <a:noFill/>
        </p:spPr>
        <p:txBody>
          <a:bodyPr wrap="square" lIns="0" rIns="0" tIns="0" bIns="0">
            <a:spAutoFit/>
          </a:bodyPr>
          <a:lstStyle/>
          <a:p>
            <a:pPr algn="ctr"/>
            <a:r>
              <a:rPr sz="1050" b="0">
                <a:solidFill>
                  <a:srgbClr val="131A24"/>
                </a:solidFill>
                <a:latin typeface="Menlo"/>
              </a:rPr>
              <a:t>WhatsApp</a:t>
            </a:r>
          </a:p>
        </p:txBody>
      </p:sp>
      <p:sp>
        <p:nvSpPr>
          <p:cNvPr id="8" name="Rectangle 7"/>
          <p:cNvSpPr/>
          <p:nvPr/>
        </p:nvSpPr>
        <p:spPr>
          <a:xfrm>
            <a:off x="5989320" y="2103120"/>
            <a:ext cx="2651760" cy="45720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9048" y="2221992"/>
            <a:ext cx="2432304" cy="274320"/>
          </a:xfrm>
          <a:prstGeom prst="rect">
            <a:avLst/>
          </a:prstGeom>
          <a:noFill/>
        </p:spPr>
        <p:txBody>
          <a:bodyPr wrap="square" lIns="0" rIns="0" tIns="0" bIns="0">
            <a:spAutoFit/>
          </a:bodyPr>
          <a:lstStyle/>
          <a:p>
            <a:pPr algn="ctr"/>
            <a:r>
              <a:rPr sz="1050" b="0">
                <a:solidFill>
                  <a:srgbClr val="7C8593"/>
                </a:solidFill>
                <a:latin typeface="Menlo"/>
              </a:rPr>
              <a:t>any future client</a:t>
            </a:r>
          </a:p>
        </p:txBody>
      </p:sp>
      <p:sp>
        <p:nvSpPr>
          <p:cNvPr id="10" name="Rectangle 9"/>
          <p:cNvSpPr/>
          <p:nvPr/>
        </p:nvSpPr>
        <p:spPr>
          <a:xfrm>
            <a:off x="777240" y="2880360"/>
            <a:ext cx="7863840" cy="457200"/>
          </a:xfrm>
          <a:prstGeom prst="rect">
            <a:avLst/>
          </a:prstGeom>
          <a:solidFill>
            <a:srgbClr val="FFFFFF"/>
          </a:solidFill>
          <a:ln w="9525">
            <a:solidFill>
              <a:srgbClr val="B87A0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999232"/>
            <a:ext cx="7644384" cy="274320"/>
          </a:xfrm>
          <a:prstGeom prst="rect">
            <a:avLst/>
          </a:prstGeom>
          <a:noFill/>
        </p:spPr>
        <p:txBody>
          <a:bodyPr wrap="square" lIns="0" rIns="0" tIns="0" bIns="0">
            <a:spAutoFit/>
          </a:bodyPr>
          <a:lstStyle/>
          <a:p>
            <a:pPr algn="ctr"/>
            <a:r>
              <a:rPr sz="1050" b="1">
                <a:solidFill>
                  <a:srgbClr val="B87A0D"/>
                </a:solidFill>
                <a:latin typeface="Menlo"/>
              </a:rPr>
              <a:t>UCXP RUNTIME</a:t>
            </a:r>
          </a:p>
        </p:txBody>
      </p:sp>
      <p:sp>
        <p:nvSpPr>
          <p:cNvPr id="12" name="TextBox 11"/>
          <p:cNvSpPr txBox="1"/>
          <p:nvPr/>
        </p:nvSpPr>
        <p:spPr>
          <a:xfrm>
            <a:off x="8869680" y="2926080"/>
            <a:ext cx="2651760" cy="548640"/>
          </a:xfrm>
          <a:prstGeom prst="rect">
            <a:avLst/>
          </a:prstGeom>
          <a:noFill/>
        </p:spPr>
        <p:txBody>
          <a:bodyPr wrap="square" lIns="0" rIns="0" tIns="0" bIns="0">
            <a:spAutoFit/>
          </a:bodyPr>
          <a:lstStyle/>
          <a:p>
            <a:pPr>
              <a:lnSpc>
                <a:spcPct val="130000"/>
              </a:lnSpc>
              <a:spcAft>
                <a:spcPts val="0"/>
              </a:spcAft>
            </a:pPr>
            <a:r>
              <a:rPr sz="900" b="0" i="0">
                <a:solidFill>
                  <a:srgbClr val="7C8593"/>
                </a:solidFill>
                <a:latin typeface="Menlo"/>
              </a:rPr>
              <a:t>route → classify → slot-fill →
check rules → act → localize</a:t>
            </a:r>
          </a:p>
        </p:txBody>
      </p:sp>
      <p:sp>
        <p:nvSpPr>
          <p:cNvPr id="13" name="Rectangle 12"/>
          <p:cNvSpPr/>
          <p:nvPr/>
        </p:nvSpPr>
        <p:spPr>
          <a:xfrm>
            <a:off x="777240" y="3657600"/>
            <a:ext cx="2514600" cy="45720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3776472"/>
            <a:ext cx="2295144" cy="274320"/>
          </a:xfrm>
          <a:prstGeom prst="rect">
            <a:avLst/>
          </a:prstGeom>
          <a:noFill/>
        </p:spPr>
        <p:txBody>
          <a:bodyPr wrap="square" lIns="0" rIns="0" tIns="0" bIns="0">
            <a:spAutoFit/>
          </a:bodyPr>
          <a:lstStyle/>
          <a:p>
            <a:pPr algn="ctr"/>
            <a:r>
              <a:rPr sz="1050" b="0">
                <a:solidFill>
                  <a:srgbClr val="131A24"/>
                </a:solidFill>
                <a:latin typeface="Menlo"/>
              </a:rPr>
              <a:t>AI Engine → Sarvam</a:t>
            </a:r>
          </a:p>
        </p:txBody>
      </p:sp>
      <p:sp>
        <p:nvSpPr>
          <p:cNvPr id="15" name="Rectangle 14"/>
          <p:cNvSpPr/>
          <p:nvPr/>
        </p:nvSpPr>
        <p:spPr>
          <a:xfrm>
            <a:off x="3474720" y="3657600"/>
            <a:ext cx="2423160" cy="45720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4448" y="3776472"/>
            <a:ext cx="2203704" cy="274320"/>
          </a:xfrm>
          <a:prstGeom prst="rect">
            <a:avLst/>
          </a:prstGeom>
          <a:noFill/>
        </p:spPr>
        <p:txBody>
          <a:bodyPr wrap="square" lIns="0" rIns="0" tIns="0" bIns="0">
            <a:spAutoFit/>
          </a:bodyPr>
          <a:lstStyle/>
          <a:p>
            <a:pPr algn="ctr"/>
            <a:r>
              <a:rPr sz="1050" b="0">
                <a:solidFill>
                  <a:srgbClr val="131A24"/>
                </a:solidFill>
                <a:latin typeface="Menlo"/>
              </a:rPr>
              <a:t>manifests/*.json</a:t>
            </a:r>
          </a:p>
        </p:txBody>
      </p:sp>
      <p:sp>
        <p:nvSpPr>
          <p:cNvPr id="17" name="Rectangle 16"/>
          <p:cNvSpPr/>
          <p:nvPr/>
        </p:nvSpPr>
        <p:spPr>
          <a:xfrm>
            <a:off x="6080760" y="3657600"/>
            <a:ext cx="2560320" cy="45720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3776472"/>
            <a:ext cx="2340864" cy="274320"/>
          </a:xfrm>
          <a:prstGeom prst="rect">
            <a:avLst/>
          </a:prstGeom>
          <a:noFill/>
        </p:spPr>
        <p:txBody>
          <a:bodyPr wrap="square" lIns="0" rIns="0" tIns="0" bIns="0">
            <a:spAutoFit/>
          </a:bodyPr>
          <a:lstStyle/>
          <a:p>
            <a:pPr algn="ctr"/>
            <a:r>
              <a:rPr sz="1050" b="0">
                <a:solidFill>
                  <a:srgbClr val="131A24"/>
                </a:solidFill>
                <a:latin typeface="Menlo"/>
              </a:rPr>
              <a:t>business APIs</a:t>
            </a:r>
          </a:p>
        </p:txBody>
      </p:sp>
      <p:sp>
        <p:nvSpPr>
          <p:cNvPr id="19" name="Rectangle 18"/>
          <p:cNvSpPr/>
          <p:nvPr/>
        </p:nvSpPr>
        <p:spPr>
          <a:xfrm>
            <a:off x="777240" y="4526280"/>
            <a:ext cx="5158587" cy="169164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764024"/>
            <a:ext cx="4646523" cy="1216152"/>
          </a:xfrm>
          <a:prstGeom prst="rect">
            <a:avLst/>
          </a:prstGeom>
          <a:noFill/>
        </p:spPr>
        <p:txBody>
          <a:bodyPr wrap="square" lIns="0" rIns="0" tIns="0" bIns="0">
            <a:spAutoFit/>
          </a:bodyPr>
          <a:lstStyle/>
          <a:p>
            <a:pPr>
              <a:lnSpc>
                <a:spcPct val="115000"/>
              </a:lnSpc>
              <a:spcAft>
                <a:spcPts val="800"/>
              </a:spcAft>
            </a:pPr>
            <a:r>
              <a:rPr sz="1600" b="1" i="0">
                <a:solidFill>
                  <a:srgbClr val="131A24"/>
                </a:solidFill>
                <a:latin typeface="Iowan Old Style"/>
              </a:rPr>
              <a:t>Two directional rules</a:t>
            </a:r>
          </a:p>
          <a:p>
            <a:pPr>
              <a:lnSpc>
                <a:spcPct val="140000"/>
              </a:lnSpc>
              <a:spcAft>
                <a:spcPts val="0"/>
              </a:spcAft>
            </a:pPr>
            <a:r>
              <a:rPr sz="1150" b="0" i="0">
                <a:solidFill>
                  <a:srgbClr val="5D6875"/>
                </a:solidFill>
                <a:latin typeface="Avenir Next"/>
              </a:rPr>
              <a:t>Nothing above the AI Engine knows Sarvam exists — no model name, no HTTP client, no retry leaks upward. Nothing in the runtime knows a business exists — behaviour enters only as data.</a:t>
            </a:r>
          </a:p>
        </p:txBody>
      </p:sp>
      <p:sp>
        <p:nvSpPr>
          <p:cNvPr id="21" name="Rectangle 20"/>
          <p:cNvSpPr/>
          <p:nvPr/>
        </p:nvSpPr>
        <p:spPr>
          <a:xfrm>
            <a:off x="6255867" y="4526280"/>
            <a:ext cx="5158587" cy="169164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1899" y="4764024"/>
            <a:ext cx="4646523" cy="1216152"/>
          </a:xfrm>
          <a:prstGeom prst="rect">
            <a:avLst/>
          </a:prstGeom>
          <a:noFill/>
        </p:spPr>
        <p:txBody>
          <a:bodyPr wrap="square" lIns="0" rIns="0" tIns="0" bIns="0">
            <a:spAutoFit/>
          </a:bodyPr>
          <a:lstStyle/>
          <a:p>
            <a:pPr>
              <a:lnSpc>
                <a:spcPct val="115000"/>
              </a:lnSpc>
              <a:spcAft>
                <a:spcPts val="800"/>
              </a:spcAft>
            </a:pPr>
            <a:r>
              <a:rPr sz="1600" b="1" i="0">
                <a:solidFill>
                  <a:srgbClr val="131A24"/>
                </a:solidFill>
                <a:latin typeface="Iowan Old Style"/>
              </a:rPr>
              <a:t>The claim is testable</a:t>
            </a:r>
          </a:p>
          <a:p>
            <a:pPr>
              <a:lnSpc>
                <a:spcPct val="140000"/>
              </a:lnSpc>
              <a:spcAft>
                <a:spcPts val="0"/>
              </a:spcAft>
            </a:pPr>
            <a:r>
              <a:rPr sz="1150" b="0" i="0">
                <a:solidFill>
                  <a:srgbClr val="5D6875"/>
                </a:solidFill>
                <a:latin typeface="Avenir Next"/>
              </a:rPr>
              <a:t>Grep the runtime for flipkart, airtel or apollo and it returns nothing. Adding five merchant manifests required zero runtime commits — enforced in the test suite.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07</a:t>
            </a:r>
            <a:r>
              <a:rPr sz="900">
                <a:solidFill>
                  <a:srgbClr val="7C8593"/>
                </a:solidFill>
                <a:latin typeface="Menlo"/>
              </a:rPr>
              <a:t>     THE PRODUCT DIFFERENCE</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200" b="1" i="0">
                <a:solidFill>
                  <a:srgbClr val="131A24"/>
                </a:solidFill>
                <a:latin typeface="Iowan Old Style"/>
              </a:rPr>
              <a:t>Support answers. Resolution completes.</a:t>
            </a:r>
          </a:p>
        </p:txBody>
      </p:sp>
      <p:sp>
        <p:nvSpPr>
          <p:cNvPr id="4" name="Rectangle 3"/>
          <p:cNvSpPr/>
          <p:nvPr/>
        </p:nvSpPr>
        <p:spPr>
          <a:xfrm>
            <a:off x="777240" y="2377440"/>
            <a:ext cx="5158587" cy="251460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 y="2615184"/>
            <a:ext cx="4646523" cy="2039112"/>
          </a:xfrm>
          <a:prstGeom prst="rect">
            <a:avLst/>
          </a:prstGeom>
          <a:noFill/>
        </p:spPr>
        <p:txBody>
          <a:bodyPr wrap="square" lIns="0" rIns="0" tIns="0" bIns="0">
            <a:spAutoFit/>
          </a:bodyPr>
          <a:lstStyle/>
          <a:p>
            <a:pPr>
              <a:spcAft>
                <a:spcPts val="800"/>
              </a:spcAft>
            </a:pPr>
            <a:r>
              <a:rPr sz="900" b="0" i="0">
                <a:solidFill>
                  <a:srgbClr val="7C8593"/>
                </a:solidFill>
                <a:latin typeface="Menlo"/>
              </a:rPr>
              <a:t>A CHATBOT RETURNS</a:t>
            </a:r>
          </a:p>
          <a:p>
            <a:pPr>
              <a:lnSpc>
                <a:spcPct val="140000"/>
              </a:lnSpc>
              <a:spcAft>
                <a:spcPts val="0"/>
              </a:spcAft>
            </a:pPr>
            <a:r>
              <a:rPr sz="1150" b="0" i="0">
                <a:solidFill>
                  <a:srgbClr val="5D6875"/>
                </a:solidFill>
                <a:latin typeface="Avenir Next"/>
              </a:rPr>
              <a:t>“Refunds are usually processed within 5–7 business days. You can check your order status in the Orders tab.”
The customer still has the problem. Nothing in the world changed.</a:t>
            </a:r>
          </a:p>
        </p:txBody>
      </p:sp>
      <p:sp>
        <p:nvSpPr>
          <p:cNvPr id="6" name="Rectangle 5"/>
          <p:cNvSpPr/>
          <p:nvPr/>
        </p:nvSpPr>
        <p:spPr>
          <a:xfrm>
            <a:off x="6255867" y="2377440"/>
            <a:ext cx="5158587" cy="2514600"/>
          </a:xfrm>
          <a:prstGeom prst="rect">
            <a:avLst/>
          </a:prstGeom>
          <a:solidFill>
            <a:srgbClr val="FFFFFF"/>
          </a:solidFill>
          <a:ln w="9525">
            <a:solidFill>
              <a:srgbClr val="B87A0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1899" y="2615184"/>
            <a:ext cx="4646523" cy="2039112"/>
          </a:xfrm>
          <a:prstGeom prst="rect">
            <a:avLst/>
          </a:prstGeom>
          <a:noFill/>
        </p:spPr>
        <p:txBody>
          <a:bodyPr wrap="square" lIns="0" rIns="0" tIns="0" bIns="0">
            <a:spAutoFit/>
          </a:bodyPr>
          <a:lstStyle/>
          <a:p>
            <a:pPr>
              <a:spcAft>
                <a:spcPts val="800"/>
              </a:spcAft>
            </a:pPr>
            <a:r>
              <a:rPr sz="900" b="0" i="0">
                <a:solidFill>
                  <a:srgbClr val="B87A0D"/>
                </a:solidFill>
                <a:latin typeface="Menlo"/>
              </a:rPr>
              <a:t>UCXP RETURNS</a:t>
            </a:r>
          </a:p>
          <a:p>
            <a:pPr>
              <a:lnSpc>
                <a:spcPct val="140000"/>
              </a:lnSpc>
              <a:spcAft>
                <a:spcPts val="0"/>
              </a:spcAft>
            </a:pPr>
            <a:r>
              <a:rPr sz="1150" b="0" i="0">
                <a:solidFill>
                  <a:srgbClr val="5D6875"/>
                </a:solidFill>
                <a:latin typeface="Avenir Next"/>
              </a:rPr>
              <a:t>“Your Airtel Fiber cancellation is filed. Pickup is scheduled within 48 hours.”
TICKET AR-4471209 · confirmed
A ticket exists. A receipt came back. The job is closed.</a:t>
            </a:r>
          </a:p>
        </p:txBody>
      </p:sp>
      <p:sp>
        <p:nvSpPr>
          <p:cNvPr id="8" name="Rectangle 7"/>
          <p:cNvSpPr/>
          <p:nvPr/>
        </p:nvSpPr>
        <p:spPr>
          <a:xfrm>
            <a:off x="777240" y="5166360"/>
            <a:ext cx="10637215" cy="9525"/>
          </a:xfrm>
          <a:prstGeom prst="rect">
            <a:avLst/>
          </a:prstGeom>
          <a:solidFill>
            <a:srgbClr val="DD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394960"/>
            <a:ext cx="8778240" cy="1188720"/>
          </a:xfrm>
          <a:prstGeom prst="rect">
            <a:avLst/>
          </a:prstGeom>
          <a:noFill/>
        </p:spPr>
        <p:txBody>
          <a:bodyPr wrap="square" lIns="0" rIns="0" tIns="0" bIns="0">
            <a:spAutoFit/>
          </a:bodyPr>
          <a:lstStyle/>
          <a:p>
            <a:pPr>
              <a:lnSpc>
                <a:spcPct val="140000"/>
              </a:lnSpc>
              <a:spcAft>
                <a:spcPts val="0"/>
              </a:spcAft>
            </a:pPr>
            <a:r>
              <a:rPr sz="1400" b="0" i="0">
                <a:solidFill>
                  <a:srgbClr val="5D6875"/>
                </a:solidFill>
                <a:latin typeface="Avenir Next"/>
              </a:rPr>
              <a:t>Every capability must execute an action and return a receipt — a tracking ETA, a ticket ID, a booking reference. A reply that only explains policy does not count as done.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08</a:t>
            </a:r>
            <a:r>
              <a:rPr sz="900">
                <a:solidFill>
                  <a:srgbClr val="7C8593"/>
                </a:solidFill>
                <a:latin typeface="Menlo"/>
              </a:rPr>
              <a:t>     BUILT, NOT SKETCHED</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200" b="1" i="0">
                <a:solidFill>
                  <a:srgbClr val="131A24"/>
                </a:solidFill>
                <a:latin typeface="Iowan Old Style"/>
              </a:rPr>
              <a:t>What is running today.</a:t>
            </a:r>
          </a:p>
        </p:txBody>
      </p:sp>
      <p:graphicFrame>
        <p:nvGraphicFramePr>
          <p:cNvPr id="4" name="Table 3"/>
          <p:cNvGraphicFramePr>
            <a:graphicFrameLocks noGrp="1"/>
          </p:cNvGraphicFramePr>
          <p:nvPr/>
        </p:nvGraphicFramePr>
        <p:xfrm>
          <a:off x="777240" y="2148840"/>
          <a:ext cx="10637214" cy="3108960"/>
        </p:xfrm>
        <a:graphic>
          <a:graphicData uri="http://schemas.openxmlformats.org/drawingml/2006/table">
            <a:tbl>
              <a:tblPr bandRow="1">
                <a:tableStyleId>{5C22544A-7EE6-4342-B048-85BDC9FD1C3A}</a:tableStyleId>
              </a:tblPr>
              <a:tblGrid>
                <a:gridCol w="2127443"/>
                <a:gridCol w="1063721"/>
                <a:gridCol w="7446050"/>
              </a:tblGrid>
              <a:tr h="444137">
                <a:tc>
                  <a:txBody>
                    <a:bodyPr/>
                    <a:lstStyle/>
                    <a:p>
                      <a:r>
                        <a:rPr sz="850" b="0">
                          <a:solidFill>
                            <a:srgbClr val="7C8593"/>
                          </a:solidFill>
                          <a:latin typeface="Menlo"/>
                        </a:rPr>
                        <a:t>LAYER</a:t>
                      </a:r>
                    </a:p>
                  </a:txBody>
                  <a:tcPr marL="73152" marR="73152" anchor="ctr">
                    <a:solidFill>
                      <a:srgbClr val="FBFAF7"/>
                    </a:solidFill>
                  </a:tcPr>
                </a:tc>
                <a:tc>
                  <a:txBody>
                    <a:bodyPr/>
                    <a:lstStyle/>
                    <a:p>
                      <a:r>
                        <a:rPr sz="850" b="0">
                          <a:solidFill>
                            <a:srgbClr val="7C8593"/>
                          </a:solidFill>
                          <a:latin typeface="Menlo"/>
                        </a:rPr>
                        <a:t>STATE</a:t>
                      </a:r>
                    </a:p>
                  </a:txBody>
                  <a:tcPr marL="73152" marR="73152" anchor="ctr">
                    <a:solidFill>
                      <a:srgbClr val="FBFAF7"/>
                    </a:solidFill>
                  </a:tcPr>
                </a:tc>
                <a:tc>
                  <a:txBody>
                    <a:bodyPr/>
                    <a:lstStyle/>
                    <a:p>
                      <a:r>
                        <a:rPr sz="850" b="0">
                          <a:solidFill>
                            <a:srgbClr val="7C8593"/>
                          </a:solidFill>
                          <a:latin typeface="Menlo"/>
                        </a:rPr>
                        <a:t>EVIDENCE</a:t>
                      </a:r>
                    </a:p>
                  </a:txBody>
                  <a:tcPr marL="73152" marR="73152" anchor="ctr">
                    <a:solidFill>
                      <a:srgbClr val="FBFAF7"/>
                    </a:solidFill>
                  </a:tcPr>
                </a:tc>
              </a:tr>
              <a:tr h="444137">
                <a:tc>
                  <a:txBody>
                    <a:bodyPr/>
                    <a:lstStyle/>
                    <a:p>
                      <a:pPr>
                        <a:lnSpc>
                          <a:spcPct val="125000"/>
                        </a:lnSpc>
                      </a:pPr>
                      <a:r>
                        <a:rPr sz="1100" b="1">
                          <a:solidFill>
                            <a:srgbClr val="131A24"/>
                          </a:solidFill>
                          <a:latin typeface="Avenir Next"/>
                        </a:rPr>
                        <a:t>AI Engine</a:t>
                      </a:r>
                    </a:p>
                  </a:txBody>
                  <a:tcPr marL="73152" marR="73152" marT="45720" marB="45720" anchor="t">
                    <a:solidFill>
                      <a:srgbClr val="FBFAF7"/>
                    </a:solidFill>
                  </a:tcPr>
                </a:tc>
                <a:tc>
                  <a:txBody>
                    <a:bodyPr/>
                    <a:lstStyle/>
                    <a:p>
                      <a:pPr>
                        <a:lnSpc>
                          <a:spcPct val="125000"/>
                        </a:lnSpc>
                      </a:pPr>
                      <a:r>
                        <a:rPr sz="1100" b="1">
                          <a:solidFill>
                            <a:srgbClr val="0F7A6B"/>
                          </a:solidFill>
                          <a:latin typeface="Menlo"/>
                        </a:rPr>
                        <a:t>LIVE</a:t>
                      </a:r>
                    </a:p>
                  </a:txBody>
                  <a:tcPr marL="73152" marR="73152" marT="45720" marB="45720" anchor="t">
                    <a:solidFill>
                      <a:srgbClr val="FBFAF7"/>
                    </a:solidFill>
                  </a:tcPr>
                </a:tc>
                <a:tc>
                  <a:txBody>
                    <a:bodyPr/>
                    <a:lstStyle/>
                    <a:p>
                      <a:pPr>
                        <a:lnSpc>
                          <a:spcPct val="125000"/>
                        </a:lnSpc>
                      </a:pPr>
                      <a:r>
                        <a:rPr sz="1100">
                          <a:solidFill>
                            <a:srgbClr val="5D6875"/>
                          </a:solidFill>
                          <a:latin typeface="Avenir Next"/>
                        </a:rPr>
                        <a:t>All seven Sarvam APIs behind one interface. Verified against the live API, 41 offline tests.</a:t>
                      </a:r>
                    </a:p>
                  </a:txBody>
                  <a:tcPr marL="73152" marR="73152" marT="45720" marB="45720" anchor="t">
                    <a:solidFill>
                      <a:srgbClr val="FBFAF7"/>
                    </a:solidFill>
                  </a:tcPr>
                </a:tc>
              </a:tr>
              <a:tr h="444137">
                <a:tc>
                  <a:txBody>
                    <a:bodyPr/>
                    <a:lstStyle/>
                    <a:p>
                      <a:pPr>
                        <a:lnSpc>
                          <a:spcPct val="125000"/>
                        </a:lnSpc>
                      </a:pPr>
                      <a:r>
                        <a:rPr sz="1100" b="1">
                          <a:solidFill>
                            <a:srgbClr val="131A24"/>
                          </a:solidFill>
                          <a:latin typeface="Avenir Next"/>
                        </a:rPr>
                        <a:t>UCXP Runtime</a:t>
                      </a:r>
                    </a:p>
                  </a:txBody>
                  <a:tcPr marL="73152" marR="73152" marT="45720" marB="45720" anchor="t">
                    <a:solidFill>
                      <a:srgbClr val="FBFAF7"/>
                    </a:solidFill>
                  </a:tcPr>
                </a:tc>
                <a:tc>
                  <a:txBody>
                    <a:bodyPr/>
                    <a:lstStyle/>
                    <a:p>
                      <a:pPr>
                        <a:lnSpc>
                          <a:spcPct val="125000"/>
                        </a:lnSpc>
                      </a:pPr>
                      <a:r>
                        <a:rPr sz="1100" b="1">
                          <a:solidFill>
                            <a:srgbClr val="0F7A6B"/>
                          </a:solidFill>
                          <a:latin typeface="Menlo"/>
                        </a:rPr>
                        <a:t>LIVE</a:t>
                      </a:r>
                    </a:p>
                  </a:txBody>
                  <a:tcPr marL="73152" marR="73152" marT="45720" marB="45720" anchor="t">
                    <a:solidFill>
                      <a:srgbClr val="FBFAF7"/>
                    </a:solidFill>
                  </a:tcPr>
                </a:tc>
                <a:tc>
                  <a:txBody>
                    <a:bodyPr/>
                    <a:lstStyle/>
                    <a:p>
                      <a:pPr>
                        <a:lnSpc>
                          <a:spcPct val="125000"/>
                        </a:lnSpc>
                      </a:pPr>
                      <a:r>
                        <a:rPr sz="1100">
                          <a:solidFill>
                            <a:srgbClr val="5D6875"/>
                          </a:solidFill>
                          <a:latin typeface="Avenir Next"/>
                        </a:rPr>
                        <a:t>LangGraph state machine, end to end: route → classify → act → compose → localize.</a:t>
                      </a:r>
                    </a:p>
                  </a:txBody>
                  <a:tcPr marL="73152" marR="73152" marT="45720" marB="45720" anchor="t">
                    <a:solidFill>
                      <a:srgbClr val="FBFAF7"/>
                    </a:solidFill>
                  </a:tcPr>
                </a:tc>
              </a:tr>
              <a:tr h="444137">
                <a:tc>
                  <a:txBody>
                    <a:bodyPr/>
                    <a:lstStyle/>
                    <a:p>
                      <a:pPr>
                        <a:lnSpc>
                          <a:spcPct val="125000"/>
                        </a:lnSpc>
                      </a:pPr>
                      <a:r>
                        <a:rPr sz="1100" b="1">
                          <a:solidFill>
                            <a:srgbClr val="131A24"/>
                          </a:solidFill>
                          <a:latin typeface="Avenir Next"/>
                        </a:rPr>
                        <a:t>Manifests</a:t>
                      </a:r>
                    </a:p>
                  </a:txBody>
                  <a:tcPr marL="73152" marR="73152" marT="45720" marB="45720" anchor="t">
                    <a:solidFill>
                      <a:srgbClr val="FBFAF7"/>
                    </a:solidFill>
                  </a:tcPr>
                </a:tc>
                <a:tc>
                  <a:txBody>
                    <a:bodyPr/>
                    <a:lstStyle/>
                    <a:p>
                      <a:pPr>
                        <a:lnSpc>
                          <a:spcPct val="125000"/>
                        </a:lnSpc>
                      </a:pPr>
                      <a:r>
                        <a:rPr sz="1100" b="1">
                          <a:solidFill>
                            <a:srgbClr val="0F7A6B"/>
                          </a:solidFill>
                          <a:latin typeface="Menlo"/>
                        </a:rPr>
                        <a:t>LIVE</a:t>
                      </a:r>
                    </a:p>
                  </a:txBody>
                  <a:tcPr marL="73152" marR="73152" marT="45720" marB="45720" anchor="t">
                    <a:solidFill>
                      <a:srgbClr val="FBFAF7"/>
                    </a:solidFill>
                  </a:tcPr>
                </a:tc>
                <a:tc>
                  <a:txBody>
                    <a:bodyPr/>
                    <a:lstStyle/>
                    <a:p>
                      <a:pPr>
                        <a:lnSpc>
                          <a:spcPct val="125000"/>
                        </a:lnSpc>
                      </a:pPr>
                      <a:r>
                        <a:rPr sz="1100">
                          <a:solidFill>
                            <a:srgbClr val="5D6875"/>
                          </a:solidFill>
                          <a:latin typeface="Avenir Next"/>
                        </a:rPr>
                        <a:t>8 published — 3 demo businesses at 9 capabilities, plus 5 Shopify merchants. Schema-validated in CI.</a:t>
                      </a:r>
                    </a:p>
                  </a:txBody>
                  <a:tcPr marL="73152" marR="73152" marT="45720" marB="45720" anchor="t">
                    <a:solidFill>
                      <a:srgbClr val="FBFAF7"/>
                    </a:solidFill>
                  </a:tcPr>
                </a:tc>
              </a:tr>
              <a:tr h="444137">
                <a:tc>
                  <a:txBody>
                    <a:bodyPr/>
                    <a:lstStyle/>
                    <a:p>
                      <a:pPr>
                        <a:lnSpc>
                          <a:spcPct val="125000"/>
                        </a:lnSpc>
                      </a:pPr>
                      <a:r>
                        <a:rPr sz="1100" b="1">
                          <a:solidFill>
                            <a:srgbClr val="131A24"/>
                          </a:solidFill>
                          <a:latin typeface="Avenir Next"/>
                        </a:rPr>
                        <a:t>WhatsApp</a:t>
                      </a:r>
                    </a:p>
                  </a:txBody>
                  <a:tcPr marL="73152" marR="73152" marT="45720" marB="45720" anchor="t">
                    <a:solidFill>
                      <a:srgbClr val="FBFAF7"/>
                    </a:solidFill>
                  </a:tcPr>
                </a:tc>
                <a:tc>
                  <a:txBody>
                    <a:bodyPr/>
                    <a:lstStyle/>
                    <a:p>
                      <a:pPr>
                        <a:lnSpc>
                          <a:spcPct val="125000"/>
                        </a:lnSpc>
                      </a:pPr>
                      <a:r>
                        <a:rPr sz="1100" b="1">
                          <a:solidFill>
                            <a:srgbClr val="0F7A6B"/>
                          </a:solidFill>
                          <a:latin typeface="Menlo"/>
                        </a:rPr>
                        <a:t>LIVE</a:t>
                      </a:r>
                    </a:p>
                  </a:txBody>
                  <a:tcPr marL="73152" marR="73152" marT="45720" marB="45720" anchor="t">
                    <a:solidFill>
                      <a:srgbClr val="FBFAF7"/>
                    </a:solidFill>
                  </a:tcPr>
                </a:tc>
                <a:tc>
                  <a:txBody>
                    <a:bodyPr/>
                    <a:lstStyle/>
                    <a:p>
                      <a:pPr>
                        <a:lnSpc>
                          <a:spcPct val="125000"/>
                        </a:lnSpc>
                      </a:pPr>
                      <a:r>
                        <a:rPr sz="1100">
                          <a:solidFill>
                            <a:srgbClr val="5D6875"/>
                          </a:solidFill>
                          <a:latin typeface="Avenir Next"/>
                        </a:rPr>
                        <a:t>Twilio sandbox. Text, voice notes, PDFs and photos in. Verified with real inbound and outbound messages.</a:t>
                      </a:r>
                    </a:p>
                  </a:txBody>
                  <a:tcPr marL="73152" marR="73152" marT="45720" marB="45720" anchor="t">
                    <a:solidFill>
                      <a:srgbClr val="FBFAF7"/>
                    </a:solidFill>
                  </a:tcPr>
                </a:tc>
              </a:tr>
              <a:tr h="444137">
                <a:tc>
                  <a:txBody>
                    <a:bodyPr/>
                    <a:lstStyle/>
                    <a:p>
                      <a:pPr>
                        <a:lnSpc>
                          <a:spcPct val="125000"/>
                        </a:lnSpc>
                      </a:pPr>
                      <a:r>
                        <a:rPr sz="1100" b="1">
                          <a:solidFill>
                            <a:srgbClr val="131A24"/>
                          </a:solidFill>
                          <a:latin typeface="Avenir Next"/>
                        </a:rPr>
                        <a:t>Mobile app</a:t>
                      </a:r>
                    </a:p>
                  </a:txBody>
                  <a:tcPr marL="73152" marR="73152" marT="45720" marB="45720" anchor="t">
                    <a:solidFill>
                      <a:srgbClr val="FBFAF7"/>
                    </a:solidFill>
                  </a:tcPr>
                </a:tc>
                <a:tc>
                  <a:txBody>
                    <a:bodyPr/>
                    <a:lstStyle/>
                    <a:p>
                      <a:pPr>
                        <a:lnSpc>
                          <a:spcPct val="125000"/>
                        </a:lnSpc>
                      </a:pPr>
                      <a:r>
                        <a:rPr sz="1100" b="1">
                          <a:solidFill>
                            <a:srgbClr val="B87A0D"/>
                          </a:solidFill>
                          <a:latin typeface="Menlo"/>
                        </a:rPr>
                        <a:t>WIRED</a:t>
                      </a:r>
                    </a:p>
                  </a:txBody>
                  <a:tcPr marL="73152" marR="73152" marT="45720" marB="45720" anchor="t">
                    <a:solidFill>
                      <a:srgbClr val="FBFAF7"/>
                    </a:solidFill>
                  </a:tcPr>
                </a:tc>
                <a:tc>
                  <a:txBody>
                    <a:bodyPr/>
                    <a:lstStyle/>
                    <a:p>
                      <a:pPr>
                        <a:lnSpc>
                          <a:spcPct val="125000"/>
                        </a:lnSpc>
                      </a:pPr>
                      <a:r>
                        <a:rPr sz="1100">
                          <a:solidFill>
                            <a:srgbClr val="5D6875"/>
                          </a:solidFill>
                          <a:latin typeface="Avenir Next"/>
                        </a:rPr>
                        <a:t>Expo client on the runtime. Voice transcription proven on device.</a:t>
                      </a:r>
                    </a:p>
                  </a:txBody>
                  <a:tcPr marL="73152" marR="73152" marT="45720" marB="45720" anchor="t">
                    <a:solidFill>
                      <a:srgbClr val="FBFAF7"/>
                    </a:solidFill>
                  </a:tcPr>
                </a:tc>
              </a:tr>
              <a:tr h="444138">
                <a:tc>
                  <a:txBody>
                    <a:bodyPr/>
                    <a:lstStyle/>
                    <a:p>
                      <a:pPr>
                        <a:lnSpc>
                          <a:spcPct val="125000"/>
                        </a:lnSpc>
                      </a:pPr>
                      <a:r>
                        <a:rPr sz="1100" b="1">
                          <a:solidFill>
                            <a:srgbClr val="131A24"/>
                          </a:solidFill>
                          <a:latin typeface="Avenir Next"/>
                        </a:rPr>
                        <a:t>Consistency harness</a:t>
                      </a:r>
                    </a:p>
                  </a:txBody>
                  <a:tcPr marL="73152" marR="73152" marT="45720" marB="45720" anchor="t">
                    <a:solidFill>
                      <a:srgbClr val="FBFAF7"/>
                    </a:solidFill>
                  </a:tcPr>
                </a:tc>
                <a:tc>
                  <a:txBody>
                    <a:bodyPr/>
                    <a:lstStyle/>
                    <a:p>
                      <a:pPr>
                        <a:lnSpc>
                          <a:spcPct val="125000"/>
                        </a:lnSpc>
                      </a:pPr>
                      <a:r>
                        <a:rPr sz="1100">
                          <a:solidFill>
                            <a:srgbClr val="7C8593"/>
                          </a:solidFill>
                          <a:latin typeface="Menlo"/>
                        </a:rPr>
                        <a:t>NEXT</a:t>
                      </a:r>
                    </a:p>
                  </a:txBody>
                  <a:tcPr marL="73152" marR="73152" marT="45720" marB="45720" anchor="t">
                    <a:solidFill>
                      <a:srgbClr val="FBFAF7"/>
                    </a:solidFill>
                  </a:tcPr>
                </a:tc>
                <a:tc>
                  <a:txBody>
                    <a:bodyPr/>
                    <a:lstStyle/>
                    <a:p>
                      <a:pPr>
                        <a:lnSpc>
                          <a:spcPct val="125000"/>
                        </a:lnSpc>
                      </a:pPr>
                      <a:r>
                        <a:rPr sz="1100">
                          <a:solidFill>
                            <a:srgbClr val="5D6875"/>
                          </a:solidFill>
                          <a:latin typeface="Avenir Next"/>
                        </a:rPr>
                        <a:t>Designed and specified; not yet built. This is the honest gap.</a:t>
                      </a:r>
                    </a:p>
                  </a:txBody>
                  <a:tcPr marL="73152" marR="73152" marT="45720" marB="45720" anchor="t">
                    <a:solidFill>
                      <a:srgbClr val="FBFAF7"/>
                    </a:solidFill>
                  </a:tcPr>
                </a:tc>
              </a:tr>
            </a:tbl>
          </a:graphicData>
        </a:graphic>
      </p:graphicFrame>
      <p:sp>
        <p:nvSpPr>
          <p:cNvPr id="5" name="TextBox 4"/>
          <p:cNvSpPr txBox="1"/>
          <p:nvPr/>
        </p:nvSpPr>
        <p:spPr>
          <a:xfrm>
            <a:off x="777240" y="5623560"/>
            <a:ext cx="10058400" cy="822960"/>
          </a:xfrm>
          <a:prstGeom prst="rect">
            <a:avLst/>
          </a:prstGeom>
          <a:noFill/>
        </p:spPr>
        <p:txBody>
          <a:bodyPr wrap="square" lIns="0" rIns="0" tIns="0" bIns="0">
            <a:spAutoFit/>
          </a:bodyPr>
          <a:lstStyle/>
          <a:p>
            <a:pPr>
              <a:lnSpc>
                <a:spcPct val="140000"/>
              </a:lnSpc>
              <a:spcAft>
                <a:spcPts val="0"/>
              </a:spcAft>
            </a:pPr>
            <a:r>
              <a:rPr sz="1050" b="0" i="0">
                <a:solidFill>
                  <a:srgbClr val="7C8593"/>
                </a:solidFill>
                <a:latin typeface="Avenir Next"/>
              </a:rPr>
              <a:t>Two clients, one runtime, one code path. WhatsApp and the app do not share a chatbot — they share the protocol engine, which is the only reason adding a third client is cheap.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09</a:t>
            </a:r>
            <a:r>
              <a:rPr sz="900">
                <a:solidFill>
                  <a:srgbClr val="7C8593"/>
                </a:solidFill>
                <a:latin typeface="Menlo"/>
              </a:rPr>
              <a:t>     MEASURED, ON THE LIVE API</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200" b="1" i="0">
                <a:solidFill>
                  <a:srgbClr val="131A24"/>
                </a:solidFill>
                <a:latin typeface="Iowan Old Style"/>
              </a:rPr>
              <a:t>The voice round trip, stage by stage.</a:t>
            </a:r>
          </a:p>
        </p:txBody>
      </p:sp>
      <p:graphicFrame>
        <p:nvGraphicFramePr>
          <p:cNvPr id="4" name="Table 3"/>
          <p:cNvGraphicFramePr>
            <a:graphicFrameLocks noGrp="1"/>
          </p:cNvGraphicFramePr>
          <p:nvPr/>
        </p:nvGraphicFramePr>
        <p:xfrm>
          <a:off x="777240" y="2103120"/>
          <a:ext cx="10637214" cy="2286000"/>
        </p:xfrm>
        <a:graphic>
          <a:graphicData uri="http://schemas.openxmlformats.org/drawingml/2006/table">
            <a:tbl>
              <a:tblPr bandRow="1">
                <a:tableStyleId>{5C22544A-7EE6-4342-B048-85BDC9FD1C3A}</a:tableStyleId>
              </a:tblPr>
              <a:tblGrid>
                <a:gridCol w="3545738"/>
                <a:gridCol w="4653781"/>
                <a:gridCol w="2437695"/>
              </a:tblGrid>
              <a:tr h="326571">
                <a:tc>
                  <a:txBody>
                    <a:bodyPr/>
                    <a:lstStyle/>
                    <a:p>
                      <a:r>
                        <a:rPr sz="850" b="0">
                          <a:solidFill>
                            <a:srgbClr val="7C8593"/>
                          </a:solidFill>
                          <a:latin typeface="Menlo"/>
                        </a:rPr>
                        <a:t>STAGE</a:t>
                      </a:r>
                    </a:p>
                  </a:txBody>
                  <a:tcPr marL="73152" marR="73152" anchor="ctr">
                    <a:solidFill>
                      <a:srgbClr val="FBFAF7"/>
                    </a:solidFill>
                  </a:tcPr>
                </a:tc>
                <a:tc>
                  <a:txBody>
                    <a:bodyPr/>
                    <a:lstStyle/>
                    <a:p>
                      <a:r>
                        <a:rPr sz="850" b="0">
                          <a:solidFill>
                            <a:srgbClr val="7C8593"/>
                          </a:solidFill>
                          <a:latin typeface="Menlo"/>
                        </a:rPr>
                        <a:t>MODEL</a:t>
                      </a:r>
                    </a:p>
                  </a:txBody>
                  <a:tcPr marL="73152" marR="73152" anchor="ctr">
                    <a:solidFill>
                      <a:srgbClr val="FBFAF7"/>
                    </a:solidFill>
                  </a:tcPr>
                </a:tc>
                <a:tc>
                  <a:txBody>
                    <a:bodyPr/>
                    <a:lstStyle/>
                    <a:p>
                      <a:r>
                        <a:rPr sz="850" b="0">
                          <a:solidFill>
                            <a:srgbClr val="7C8593"/>
                          </a:solidFill>
                          <a:latin typeface="Menlo"/>
                        </a:rPr>
                        <a:t>LATENCY</a:t>
                      </a:r>
                    </a:p>
                  </a:txBody>
                  <a:tcPr marL="73152" marR="73152" anchor="ctr">
                    <a:solidFill>
                      <a:srgbClr val="FBFAF7"/>
                    </a:solidFill>
                  </a:tcPr>
                </a:tc>
              </a:tr>
              <a:tr h="326571">
                <a:tc>
                  <a:txBody>
                    <a:bodyPr/>
                    <a:lstStyle/>
                    <a:p>
                      <a:pPr>
                        <a:lnSpc>
                          <a:spcPct val="125000"/>
                        </a:lnSpc>
                      </a:pPr>
                      <a:r>
                        <a:rPr sz="1150" b="1">
                          <a:solidFill>
                            <a:srgbClr val="131A24"/>
                          </a:solidFill>
                          <a:latin typeface="Avenir Next"/>
                        </a:rPr>
                        <a:t>Speech to text</a:t>
                      </a:r>
                    </a:p>
                  </a:txBody>
                  <a:tcPr marL="73152" marR="73152" marT="45720" marB="45720" anchor="t">
                    <a:solidFill>
                      <a:srgbClr val="FBFAF7"/>
                    </a:solidFill>
                  </a:tcPr>
                </a:tc>
                <a:tc>
                  <a:txBody>
                    <a:bodyPr/>
                    <a:lstStyle/>
                    <a:p>
                      <a:pPr>
                        <a:lnSpc>
                          <a:spcPct val="125000"/>
                        </a:lnSpc>
                      </a:pPr>
                      <a:r>
                        <a:rPr sz="1150">
                          <a:solidFill>
                            <a:srgbClr val="5D6875"/>
                          </a:solidFill>
                          <a:latin typeface="Menlo"/>
                        </a:rPr>
                        <a:t>saarika:v2.5</a:t>
                      </a:r>
                    </a:p>
                  </a:txBody>
                  <a:tcPr marL="73152" marR="73152" marT="45720" marB="45720" anchor="t">
                    <a:solidFill>
                      <a:srgbClr val="FBFAF7"/>
                    </a:solidFill>
                  </a:tcPr>
                </a:tc>
                <a:tc>
                  <a:txBody>
                    <a:bodyPr/>
                    <a:lstStyle/>
                    <a:p>
                      <a:pPr>
                        <a:lnSpc>
                          <a:spcPct val="125000"/>
                        </a:lnSpc>
                      </a:pPr>
                      <a:r>
                        <a:rPr sz="1150">
                          <a:solidFill>
                            <a:srgbClr val="131A24"/>
                          </a:solidFill>
                          <a:latin typeface="Menlo"/>
                        </a:rPr>
                        <a:t>405 ms</a:t>
                      </a:r>
                    </a:p>
                  </a:txBody>
                  <a:tcPr marL="73152" marR="73152" marT="45720" marB="45720" anchor="t">
                    <a:solidFill>
                      <a:srgbClr val="FBFAF7"/>
                    </a:solidFill>
                  </a:tcPr>
                </a:tc>
              </a:tr>
              <a:tr h="326571">
                <a:tc>
                  <a:txBody>
                    <a:bodyPr/>
                    <a:lstStyle/>
                    <a:p>
                      <a:pPr>
                        <a:lnSpc>
                          <a:spcPct val="125000"/>
                        </a:lnSpc>
                      </a:pPr>
                      <a:r>
                        <a:rPr sz="1150" b="1">
                          <a:solidFill>
                            <a:srgbClr val="131A24"/>
                          </a:solidFill>
                          <a:latin typeface="Avenir Next"/>
                        </a:rPr>
                        <a:t>Translate → English</a:t>
                      </a:r>
                    </a:p>
                  </a:txBody>
                  <a:tcPr marL="73152" marR="73152" marT="45720" marB="45720" anchor="t">
                    <a:solidFill>
                      <a:srgbClr val="FBFAF7"/>
                    </a:solidFill>
                  </a:tcPr>
                </a:tc>
                <a:tc>
                  <a:txBody>
                    <a:bodyPr/>
                    <a:lstStyle/>
                    <a:p>
                      <a:pPr>
                        <a:lnSpc>
                          <a:spcPct val="125000"/>
                        </a:lnSpc>
                      </a:pPr>
                      <a:r>
                        <a:rPr sz="1150">
                          <a:solidFill>
                            <a:srgbClr val="5D6875"/>
                          </a:solidFill>
                          <a:latin typeface="Menlo"/>
                        </a:rPr>
                        <a:t>sarvam-translate:v1</a:t>
                      </a:r>
                    </a:p>
                  </a:txBody>
                  <a:tcPr marL="73152" marR="73152" marT="45720" marB="45720" anchor="t">
                    <a:solidFill>
                      <a:srgbClr val="FBFAF7"/>
                    </a:solidFill>
                  </a:tcPr>
                </a:tc>
                <a:tc>
                  <a:txBody>
                    <a:bodyPr/>
                    <a:lstStyle/>
                    <a:p>
                      <a:pPr>
                        <a:lnSpc>
                          <a:spcPct val="125000"/>
                        </a:lnSpc>
                      </a:pPr>
                      <a:r>
                        <a:rPr sz="1150">
                          <a:solidFill>
                            <a:srgbClr val="131A24"/>
                          </a:solidFill>
                          <a:latin typeface="Menlo"/>
                        </a:rPr>
                        <a:t>227 ms</a:t>
                      </a:r>
                    </a:p>
                  </a:txBody>
                  <a:tcPr marL="73152" marR="73152" marT="45720" marB="45720" anchor="t">
                    <a:solidFill>
                      <a:srgbClr val="FBFAF7"/>
                    </a:solidFill>
                  </a:tcPr>
                </a:tc>
              </a:tr>
              <a:tr h="326571">
                <a:tc>
                  <a:txBody>
                    <a:bodyPr/>
                    <a:lstStyle/>
                    <a:p>
                      <a:pPr>
                        <a:lnSpc>
                          <a:spcPct val="125000"/>
                        </a:lnSpc>
                      </a:pPr>
                      <a:r>
                        <a:rPr sz="1150" b="1">
                          <a:solidFill>
                            <a:srgbClr val="131A24"/>
                          </a:solidFill>
                          <a:latin typeface="Avenir Next"/>
                        </a:rPr>
                        <a:t>Reasoning</a:t>
                      </a:r>
                    </a:p>
                  </a:txBody>
                  <a:tcPr marL="73152" marR="73152" marT="45720" marB="45720" anchor="t">
                    <a:solidFill>
                      <a:srgbClr val="FBFAF7"/>
                    </a:solidFill>
                  </a:tcPr>
                </a:tc>
                <a:tc>
                  <a:txBody>
                    <a:bodyPr/>
                    <a:lstStyle/>
                    <a:p>
                      <a:pPr>
                        <a:lnSpc>
                          <a:spcPct val="125000"/>
                        </a:lnSpc>
                      </a:pPr>
                      <a:r>
                        <a:rPr sz="1150">
                          <a:solidFill>
                            <a:srgbClr val="5D6875"/>
                          </a:solidFill>
                          <a:latin typeface="Menlo"/>
                        </a:rPr>
                        <a:t>sarvam-105b</a:t>
                      </a:r>
                    </a:p>
                  </a:txBody>
                  <a:tcPr marL="73152" marR="73152" marT="45720" marB="45720" anchor="t">
                    <a:solidFill>
                      <a:srgbClr val="FBFAF7"/>
                    </a:solidFill>
                  </a:tcPr>
                </a:tc>
                <a:tc>
                  <a:txBody>
                    <a:bodyPr/>
                    <a:lstStyle/>
                    <a:p>
                      <a:pPr>
                        <a:lnSpc>
                          <a:spcPct val="125000"/>
                        </a:lnSpc>
                      </a:pPr>
                      <a:r>
                        <a:rPr sz="1150" b="1">
                          <a:solidFill>
                            <a:srgbClr val="B87A0D"/>
                          </a:solidFill>
                          <a:latin typeface="Menlo"/>
                        </a:rPr>
                        <a:t>4,673 ms</a:t>
                      </a:r>
                    </a:p>
                  </a:txBody>
                  <a:tcPr marL="73152" marR="73152" marT="45720" marB="45720" anchor="t">
                    <a:solidFill>
                      <a:srgbClr val="FBFAF7"/>
                    </a:solidFill>
                  </a:tcPr>
                </a:tc>
              </a:tr>
              <a:tr h="326571">
                <a:tc>
                  <a:txBody>
                    <a:bodyPr/>
                    <a:lstStyle/>
                    <a:p>
                      <a:pPr>
                        <a:lnSpc>
                          <a:spcPct val="125000"/>
                        </a:lnSpc>
                      </a:pPr>
                      <a:r>
                        <a:rPr sz="1150" b="1">
                          <a:solidFill>
                            <a:srgbClr val="131A24"/>
                          </a:solidFill>
                          <a:latin typeface="Avenir Next"/>
                        </a:rPr>
                        <a:t>Translate → Hindi</a:t>
                      </a:r>
                    </a:p>
                  </a:txBody>
                  <a:tcPr marL="73152" marR="73152" marT="45720" marB="45720" anchor="t">
                    <a:solidFill>
                      <a:srgbClr val="FBFAF7"/>
                    </a:solidFill>
                  </a:tcPr>
                </a:tc>
                <a:tc>
                  <a:txBody>
                    <a:bodyPr/>
                    <a:lstStyle/>
                    <a:p>
                      <a:pPr>
                        <a:lnSpc>
                          <a:spcPct val="125000"/>
                        </a:lnSpc>
                      </a:pPr>
                      <a:r>
                        <a:rPr sz="1150">
                          <a:solidFill>
                            <a:srgbClr val="5D6875"/>
                          </a:solidFill>
                          <a:latin typeface="Menlo"/>
                        </a:rPr>
                        <a:t>sarvam-translate:v1</a:t>
                      </a:r>
                    </a:p>
                  </a:txBody>
                  <a:tcPr marL="73152" marR="73152" marT="45720" marB="45720" anchor="t">
                    <a:solidFill>
                      <a:srgbClr val="FBFAF7"/>
                    </a:solidFill>
                  </a:tcPr>
                </a:tc>
                <a:tc>
                  <a:txBody>
                    <a:bodyPr/>
                    <a:lstStyle/>
                    <a:p>
                      <a:pPr>
                        <a:lnSpc>
                          <a:spcPct val="125000"/>
                        </a:lnSpc>
                      </a:pPr>
                      <a:r>
                        <a:rPr sz="1150">
                          <a:solidFill>
                            <a:srgbClr val="131A24"/>
                          </a:solidFill>
                          <a:latin typeface="Menlo"/>
                        </a:rPr>
                        <a:t>356 ms</a:t>
                      </a:r>
                    </a:p>
                  </a:txBody>
                  <a:tcPr marL="73152" marR="73152" marT="45720" marB="45720" anchor="t">
                    <a:solidFill>
                      <a:srgbClr val="FBFAF7"/>
                    </a:solidFill>
                  </a:tcPr>
                </a:tc>
              </a:tr>
              <a:tr h="326571">
                <a:tc>
                  <a:txBody>
                    <a:bodyPr/>
                    <a:lstStyle/>
                    <a:p>
                      <a:pPr>
                        <a:lnSpc>
                          <a:spcPct val="125000"/>
                        </a:lnSpc>
                      </a:pPr>
                      <a:r>
                        <a:rPr sz="1150" b="1">
                          <a:solidFill>
                            <a:srgbClr val="131A24"/>
                          </a:solidFill>
                          <a:latin typeface="Avenir Next"/>
                        </a:rPr>
                        <a:t>Text to speech</a:t>
                      </a:r>
                    </a:p>
                  </a:txBody>
                  <a:tcPr marL="73152" marR="73152" marT="45720" marB="45720" anchor="t">
                    <a:solidFill>
                      <a:srgbClr val="FBFAF7"/>
                    </a:solidFill>
                  </a:tcPr>
                </a:tc>
                <a:tc>
                  <a:txBody>
                    <a:bodyPr/>
                    <a:lstStyle/>
                    <a:p>
                      <a:pPr>
                        <a:lnSpc>
                          <a:spcPct val="125000"/>
                        </a:lnSpc>
                      </a:pPr>
                      <a:r>
                        <a:rPr sz="1150">
                          <a:solidFill>
                            <a:srgbClr val="5D6875"/>
                          </a:solidFill>
                          <a:latin typeface="Menlo"/>
                        </a:rPr>
                        <a:t>bulbul:v2</a:t>
                      </a:r>
                    </a:p>
                  </a:txBody>
                  <a:tcPr marL="73152" marR="73152" marT="45720" marB="45720" anchor="t">
                    <a:solidFill>
                      <a:srgbClr val="FBFAF7"/>
                    </a:solidFill>
                  </a:tcPr>
                </a:tc>
                <a:tc>
                  <a:txBody>
                    <a:bodyPr/>
                    <a:lstStyle/>
                    <a:p>
                      <a:pPr>
                        <a:lnSpc>
                          <a:spcPct val="125000"/>
                        </a:lnSpc>
                      </a:pPr>
                      <a:r>
                        <a:rPr sz="1150">
                          <a:solidFill>
                            <a:srgbClr val="131A24"/>
                          </a:solidFill>
                          <a:latin typeface="Menlo"/>
                        </a:rPr>
                        <a:t>1,139 ms</a:t>
                      </a:r>
                    </a:p>
                  </a:txBody>
                  <a:tcPr marL="73152" marR="73152" marT="45720" marB="45720" anchor="t">
                    <a:solidFill>
                      <a:srgbClr val="FBFAF7"/>
                    </a:solidFill>
                  </a:tcPr>
                </a:tc>
              </a:tr>
              <a:tr h="326574">
                <a:tc>
                  <a:txBody>
                    <a:bodyPr/>
                    <a:lstStyle/>
                    <a:p>
                      <a:pPr>
                        <a:lnSpc>
                          <a:spcPct val="125000"/>
                        </a:lnSpc>
                      </a:pPr>
                      <a:r>
                        <a:rPr sz="1150" b="1">
                          <a:solidFill>
                            <a:srgbClr val="131A24"/>
                          </a:solidFill>
                          <a:latin typeface="Avenir Next"/>
                        </a:rPr>
                        <a:t>Total</a:t>
                      </a:r>
                    </a:p>
                  </a:txBody>
                  <a:tcPr marL="73152" marR="73152" marT="45720" marB="45720" anchor="t">
                    <a:solidFill>
                      <a:srgbClr val="FBFAF7"/>
                    </a:solidFill>
                  </a:tcPr>
                </a:tc>
                <a:tc>
                  <a:txBody>
                    <a:bodyPr/>
                    <a:lstStyle/>
                    <a:p>
                      <a:pPr>
                        <a:lnSpc>
                          <a:spcPct val="125000"/>
                        </a:lnSpc>
                      </a:pPr>
                      <a:r>
                        <a:rPr sz="1150">
                          <a:solidFill>
                            <a:srgbClr val="5D6875"/>
                          </a:solidFill>
                          <a:latin typeface="Menlo"/>
                        </a:rPr>
                        <a:t>voice in → voice out</a:t>
                      </a:r>
                    </a:p>
                  </a:txBody>
                  <a:tcPr marL="73152" marR="73152" marT="45720" marB="45720" anchor="t">
                    <a:solidFill>
                      <a:srgbClr val="FBFAF7"/>
                    </a:solidFill>
                  </a:tcPr>
                </a:tc>
                <a:tc>
                  <a:txBody>
                    <a:bodyPr/>
                    <a:lstStyle/>
                    <a:p>
                      <a:pPr>
                        <a:lnSpc>
                          <a:spcPct val="125000"/>
                        </a:lnSpc>
                      </a:pPr>
                      <a:r>
                        <a:rPr sz="1150">
                          <a:solidFill>
                            <a:srgbClr val="131A24"/>
                          </a:solidFill>
                          <a:latin typeface="Menlo"/>
                        </a:rPr>
                        <a:t>6.8 s</a:t>
                      </a:r>
                    </a:p>
                  </a:txBody>
                  <a:tcPr marL="73152" marR="73152" marT="45720" marB="45720" anchor="t">
                    <a:solidFill>
                      <a:srgbClr val="FBFAF7"/>
                    </a:solidFill>
                  </a:tcPr>
                </a:tc>
              </a:tr>
            </a:tbl>
          </a:graphicData>
        </a:graphic>
      </p:graphicFrame>
      <p:sp>
        <p:nvSpPr>
          <p:cNvPr id="5" name="TextBox 4"/>
          <p:cNvSpPr txBox="1"/>
          <p:nvPr/>
        </p:nvSpPr>
        <p:spPr>
          <a:xfrm>
            <a:off x="777240" y="4617720"/>
            <a:ext cx="3332378" cy="1097280"/>
          </a:xfrm>
          <a:prstGeom prst="rect">
            <a:avLst/>
          </a:prstGeom>
          <a:noFill/>
        </p:spPr>
        <p:txBody>
          <a:bodyPr wrap="square" lIns="0" rIns="0" tIns="0" bIns="0">
            <a:spAutoFit/>
          </a:bodyPr>
          <a:lstStyle/>
          <a:p>
            <a:r>
              <a:rPr sz="3800" b="1">
                <a:solidFill>
                  <a:srgbClr val="B87A0D"/>
                </a:solidFill>
                <a:latin typeface="Iowan Old Style"/>
              </a:rPr>
              <a:t>2.1</a:t>
            </a:r>
            <a:r>
              <a:rPr sz="1700">
                <a:solidFill>
                  <a:srgbClr val="7C8593"/>
                </a:solidFill>
                <a:latin typeface="Iowan Old Style"/>
              </a:rPr>
              <a:t> s</a:t>
            </a:r>
          </a:p>
          <a:p>
            <a:pPr>
              <a:lnSpc>
                <a:spcPct val="130000"/>
              </a:lnSpc>
              <a:spcBef>
                <a:spcPts val="600"/>
              </a:spcBef>
            </a:pPr>
            <a:r>
              <a:rPr sz="1100">
                <a:solidFill>
                  <a:srgbClr val="5D6875"/>
                </a:solidFill>
                <a:latin typeface="Avenir Next"/>
              </a:rPr>
              <a:t>Text-only pipeline, end to end</a:t>
            </a:r>
          </a:p>
        </p:txBody>
      </p:sp>
      <p:sp>
        <p:nvSpPr>
          <p:cNvPr id="6" name="TextBox 5"/>
          <p:cNvSpPr txBox="1"/>
          <p:nvPr/>
        </p:nvSpPr>
        <p:spPr>
          <a:xfrm>
            <a:off x="4429658" y="4617720"/>
            <a:ext cx="3332378" cy="1097280"/>
          </a:xfrm>
          <a:prstGeom prst="rect">
            <a:avLst/>
          </a:prstGeom>
          <a:noFill/>
        </p:spPr>
        <p:txBody>
          <a:bodyPr wrap="square" lIns="0" rIns="0" tIns="0" bIns="0">
            <a:spAutoFit/>
          </a:bodyPr>
          <a:lstStyle/>
          <a:p>
            <a:r>
              <a:rPr sz="3800" b="1">
                <a:solidFill>
                  <a:srgbClr val="131A24"/>
                </a:solidFill>
                <a:latin typeface="Iowan Old Style"/>
              </a:rPr>
              <a:t>0.4</a:t>
            </a:r>
            <a:r>
              <a:rPr sz="1700">
                <a:solidFill>
                  <a:srgbClr val="7C8593"/>
                </a:solidFill>
                <a:latin typeface="Iowan Old Style"/>
              </a:rPr>
              <a:t> s</a:t>
            </a:r>
          </a:p>
          <a:p>
            <a:pPr>
              <a:lnSpc>
                <a:spcPct val="130000"/>
              </a:lnSpc>
              <a:spcBef>
                <a:spcPts val="600"/>
              </a:spcBef>
            </a:pPr>
            <a:r>
              <a:rPr sz="1100">
                <a:solidFill>
                  <a:srgbClr val="5D6875"/>
                </a:solidFill>
                <a:latin typeface="Avenir Next"/>
              </a:rPr>
              <a:t>WhatsApp acknowledgement, answer delivered async</a:t>
            </a:r>
          </a:p>
        </p:txBody>
      </p:sp>
      <p:sp>
        <p:nvSpPr>
          <p:cNvPr id="7" name="TextBox 6"/>
          <p:cNvSpPr txBox="1"/>
          <p:nvPr/>
        </p:nvSpPr>
        <p:spPr>
          <a:xfrm>
            <a:off x="8082076" y="4617720"/>
            <a:ext cx="3332378" cy="1097280"/>
          </a:xfrm>
          <a:prstGeom prst="rect">
            <a:avLst/>
          </a:prstGeom>
          <a:noFill/>
        </p:spPr>
        <p:txBody>
          <a:bodyPr wrap="square" lIns="0" rIns="0" tIns="0" bIns="0">
            <a:spAutoFit/>
          </a:bodyPr>
          <a:lstStyle/>
          <a:p>
            <a:r>
              <a:rPr sz="3800" b="1">
                <a:solidFill>
                  <a:srgbClr val="131A24"/>
                </a:solidFill>
                <a:latin typeface="Iowan Old Style"/>
              </a:rPr>
              <a:t>60</a:t>
            </a:r>
          </a:p>
          <a:p>
            <a:pPr>
              <a:lnSpc>
                <a:spcPct val="130000"/>
              </a:lnSpc>
              <a:spcBef>
                <a:spcPts val="600"/>
              </a:spcBef>
            </a:pPr>
            <a:r>
              <a:rPr sz="1100">
                <a:solidFill>
                  <a:srgbClr val="5D6875"/>
                </a:solidFill>
                <a:latin typeface="Avenir Next"/>
              </a:rPr>
              <a:t>Tests green across engine and runtime</a:t>
            </a:r>
          </a:p>
        </p:txBody>
      </p:sp>
      <p:sp>
        <p:nvSpPr>
          <p:cNvPr id="8" name="TextBox 7"/>
          <p:cNvSpPr txBox="1"/>
          <p:nvPr/>
        </p:nvSpPr>
        <p:spPr>
          <a:xfrm>
            <a:off x="777240" y="5852160"/>
            <a:ext cx="10058400" cy="822960"/>
          </a:xfrm>
          <a:prstGeom prst="rect">
            <a:avLst/>
          </a:prstGeom>
          <a:noFill/>
        </p:spPr>
        <p:txBody>
          <a:bodyPr wrap="square" lIns="0" rIns="0" tIns="0" bIns="0">
            <a:spAutoFit/>
          </a:bodyPr>
          <a:lstStyle/>
          <a:p>
            <a:pPr>
              <a:lnSpc>
                <a:spcPct val="140000"/>
              </a:lnSpc>
              <a:spcAft>
                <a:spcPts val="0"/>
              </a:spcAft>
            </a:pPr>
            <a:r>
              <a:rPr sz="1050" b="0" i="0">
                <a:solidFill>
                  <a:srgbClr val="7C8593"/>
                </a:solidFill>
                <a:latin typeface="Avenir Next"/>
              </a:rPr>
              <a:t>Reasoning dominates; every other stage is sub-second. We measured rather than assumed — which is how we found Sarvam's 30-second speech cap and now fail in 2 ms instead of burning a round trip.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10</a:t>
            </a:r>
            <a:r>
              <a:rPr sz="900">
                <a:solidFill>
                  <a:srgbClr val="7C8593"/>
                </a:solidFill>
                <a:latin typeface="Menlo"/>
              </a:rPr>
              <a:t>     THE DEMO</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000" b="1" i="0">
                <a:solidFill>
                  <a:srgbClr val="131A24"/>
                </a:solidFill>
                <a:latin typeface="Iowan Old Style"/>
              </a:rPr>
              <a:t>Three businesses, three languages,
one conversation, no app switching.</a:t>
            </a:r>
          </a:p>
        </p:txBody>
      </p:sp>
      <p:sp>
        <p:nvSpPr>
          <p:cNvPr id="4" name="TextBox 3"/>
          <p:cNvSpPr txBox="1"/>
          <p:nvPr/>
        </p:nvSpPr>
        <p:spPr>
          <a:xfrm>
            <a:off x="777240" y="3017520"/>
            <a:ext cx="10241280" cy="3291840"/>
          </a:xfrm>
          <a:prstGeom prst="rect">
            <a:avLst/>
          </a:prstGeom>
          <a:noFill/>
        </p:spPr>
        <p:txBody>
          <a:bodyPr wrap="square" lIns="0" rIns="0" tIns="0" bIns="0">
            <a:spAutoFit/>
          </a:bodyPr>
          <a:lstStyle/>
          <a:p>
            <a:pPr>
              <a:lnSpc>
                <a:spcPct val="135000"/>
              </a:lnSpc>
              <a:spcAft>
                <a:spcPts val="1400"/>
              </a:spcAft>
            </a:pPr>
            <a:r>
              <a:rPr sz="1400">
                <a:solidFill>
                  <a:srgbClr val="B87A0D"/>
                </a:solidFill>
                <a:latin typeface="Menlo"/>
              </a:rPr>
              <a:t>— </a:t>
            </a:r>
            <a:r>
              <a:rPr sz="1400" b="0">
                <a:solidFill>
                  <a:srgbClr val="5D6875"/>
                </a:solidFill>
                <a:latin typeface="Avenir Next"/>
              </a:rPr>
              <a:t>Speak Telugu — spoken Telugu reply, receipt card with status and ETA.</a:t>
            </a:r>
          </a:p>
          <a:p>
            <a:pPr>
              <a:lnSpc>
                <a:spcPct val="135000"/>
              </a:lnSpc>
              <a:spcAft>
                <a:spcPts val="1400"/>
              </a:spcAft>
            </a:pPr>
            <a:r>
              <a:rPr sz="1400">
                <a:solidFill>
                  <a:srgbClr val="B87A0D"/>
                </a:solidFill>
                <a:latin typeface="Menlo"/>
              </a:rPr>
              <a:t>— </a:t>
            </a:r>
            <a:r>
              <a:rPr sz="1400" b="0">
                <a:solidFill>
                  <a:srgbClr val="5D6875"/>
                </a:solidFill>
                <a:latin typeface="Avenir Next"/>
              </a:rPr>
              <a:t>Immediately, in Hindi: cancel Airtel Fiber — cancellation executes, ticket ID returned.</a:t>
            </a:r>
          </a:p>
          <a:p>
            <a:pPr>
              <a:lnSpc>
                <a:spcPct val="135000"/>
              </a:lnSpc>
              <a:spcAft>
                <a:spcPts val="1400"/>
              </a:spcAft>
            </a:pPr>
            <a:r>
              <a:rPr sz="1400">
                <a:solidFill>
                  <a:srgbClr val="B87A0D"/>
                </a:solidFill>
                <a:latin typeface="Menlo"/>
              </a:rPr>
              <a:t>— </a:t>
            </a:r>
            <a:r>
              <a:rPr sz="1400" b="0">
                <a:solidFill>
                  <a:srgbClr val="5D6875"/>
                </a:solidFill>
                <a:latin typeface="Avenir Next"/>
              </a:rPr>
              <a:t>Then just </a:t>
            </a:r>
            <a:r>
              <a:rPr sz="1400" b="1">
                <a:solidFill>
                  <a:srgbClr val="131A24"/>
                </a:solidFill>
                <a:latin typeface="Avenir Next"/>
              </a:rPr>
              <a:t>“Cancel it.”</a:t>
            </a:r>
            <a:r>
              <a:rPr sz="1400" b="0">
                <a:solidFill>
                  <a:srgbClr val="5D6875"/>
                </a:solidFill>
                <a:latin typeface="Avenir Next"/>
              </a:rPr>
              <a:t> — memory resolves which business and which service, nothing repeated.</a:t>
            </a:r>
          </a:p>
          <a:p>
            <a:pPr>
              <a:lnSpc>
                <a:spcPct val="135000"/>
              </a:lnSpc>
              <a:spcAft>
                <a:spcPts val="1400"/>
              </a:spcAft>
            </a:pPr>
            <a:r>
              <a:rPr sz="1400">
                <a:solidFill>
                  <a:srgbClr val="B87A0D"/>
                </a:solidFill>
                <a:latin typeface="Menlo"/>
              </a:rPr>
              <a:t>— </a:t>
            </a:r>
            <a:r>
              <a:rPr sz="1400" b="0">
                <a:solidFill>
                  <a:srgbClr val="5D6875"/>
                </a:solidFill>
                <a:latin typeface="Avenir Next"/>
              </a:rPr>
              <a:t>Send the same request over WhatsApp — identical backend path, identical outcome.</a:t>
            </a:r>
          </a:p>
          <a:p>
            <a:pPr>
              <a:lnSpc>
                <a:spcPct val="135000"/>
              </a:lnSpc>
              <a:spcAft>
                <a:spcPts val="1400"/>
              </a:spcAft>
            </a:pPr>
            <a:r>
              <a:rPr sz="1400">
                <a:solidFill>
                  <a:srgbClr val="B87A0D"/>
                </a:solidFill>
                <a:latin typeface="Menlo"/>
              </a:rPr>
              <a:t>— </a:t>
            </a:r>
            <a:r>
              <a:rPr sz="1400" b="0">
                <a:solidFill>
                  <a:srgbClr val="5D6875"/>
                </a:solidFill>
                <a:latin typeface="Avenir Next"/>
              </a:rPr>
              <a:t>Open </a:t>
            </a:r>
            <a:r>
              <a:rPr sz="1400" b="1">
                <a:solidFill>
                  <a:srgbClr val="131A24"/>
                </a:solidFill>
                <a:latin typeface="Avenir Next"/>
              </a:rPr>
              <a:t>GET /manifests/airtel</a:t>
            </a:r>
            <a:r>
              <a:rPr sz="1400" b="0">
                <a:solidFill>
                  <a:srgbClr val="5D6875"/>
                </a:solidFill>
                <a:latin typeface="Avenir Next"/>
              </a:rPr>
              <a:t> — show there is no Airtel code anywhere in the runtime.</a:t>
            </a:r>
          </a:p>
        </p:txBody>
      </p:sp>
      <p:sp>
        <p:nvSpPr>
          <p:cNvPr id="5" name="Rectangle 4"/>
          <p:cNvSpPr/>
          <p:nvPr/>
        </p:nvSpPr>
        <p:spPr>
          <a:xfrm>
            <a:off x="777240" y="5394960"/>
            <a:ext cx="10637215" cy="9525"/>
          </a:xfrm>
          <a:prstGeom prst="rect">
            <a:avLst/>
          </a:prstGeom>
          <a:solidFill>
            <a:srgbClr val="DD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623560"/>
            <a:ext cx="8778240" cy="1188720"/>
          </a:xfrm>
          <a:prstGeom prst="rect">
            <a:avLst/>
          </a:prstGeom>
          <a:noFill/>
        </p:spPr>
        <p:txBody>
          <a:bodyPr wrap="square" lIns="0" rIns="0" tIns="0" bIns="0">
            <a:spAutoFit/>
          </a:bodyPr>
          <a:lstStyle/>
          <a:p>
            <a:pPr>
              <a:lnSpc>
                <a:spcPct val="140000"/>
              </a:lnSpc>
              <a:spcAft>
                <a:spcPts val="0"/>
              </a:spcAft>
            </a:pPr>
            <a:r>
              <a:rPr sz="1400" b="0" i="0">
                <a:solidFill>
                  <a:srgbClr val="5D6875"/>
                </a:solidFill>
                <a:latin typeface="Avenir Next"/>
              </a:rPr>
              <a:t>The last step is the one that matters. Everything before it is evidence the protocol works; that step is proof there is a protocol at all.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11</a:t>
            </a:r>
            <a:r>
              <a:rPr sz="900">
                <a:solidFill>
                  <a:srgbClr val="7C8593"/>
                </a:solidFill>
                <a:latin typeface="Menlo"/>
              </a:rPr>
              <a:t>     WHY SARVAM</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000" b="1" i="0">
                <a:solidFill>
                  <a:srgbClr val="131A24"/>
                </a:solidFill>
                <a:latin typeface="Iowan Old Style"/>
              </a:rPr>
              <a:t>The protocol is only worth anything in the
language the customer actually speaks.</a:t>
            </a:r>
          </a:p>
        </p:txBody>
      </p:sp>
      <p:sp>
        <p:nvSpPr>
          <p:cNvPr id="4" name="Rectangle 3"/>
          <p:cNvSpPr/>
          <p:nvPr/>
        </p:nvSpPr>
        <p:spPr>
          <a:xfrm>
            <a:off x="777240" y="2880360"/>
            <a:ext cx="2419273" cy="178308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 y="3118104"/>
            <a:ext cx="1907209" cy="1307592"/>
          </a:xfrm>
          <a:prstGeom prst="rect">
            <a:avLst/>
          </a:prstGeom>
          <a:noFill/>
        </p:spPr>
        <p:txBody>
          <a:bodyPr wrap="square" lIns="0" rIns="0" tIns="0" bIns="0">
            <a:spAutoFit/>
          </a:bodyPr>
          <a:lstStyle/>
          <a:p>
            <a:pPr>
              <a:lnSpc>
                <a:spcPct val="115000"/>
              </a:lnSpc>
              <a:spcAft>
                <a:spcPts val="800"/>
              </a:spcAft>
            </a:pPr>
            <a:r>
              <a:rPr sz="1600" b="1" i="0">
                <a:solidFill>
                  <a:srgbClr val="131A24"/>
                </a:solidFill>
                <a:latin typeface="Iowan Old Style"/>
              </a:rPr>
              <a:t>Saaras V3</a:t>
            </a:r>
          </a:p>
          <a:p>
            <a:pPr>
              <a:lnSpc>
                <a:spcPct val="140000"/>
              </a:lnSpc>
              <a:spcAft>
                <a:spcPts val="0"/>
              </a:spcAft>
            </a:pPr>
            <a:r>
              <a:rPr sz="1150" b="0" i="0">
                <a:solidFill>
                  <a:srgbClr val="5D6875"/>
                </a:solidFill>
                <a:latin typeface="Avenir Next"/>
              </a:rPr>
              <a:t>Streaming speech recognition across 22 Indian languages — the input side of a voice-first support layer.</a:t>
            </a:r>
          </a:p>
        </p:txBody>
      </p:sp>
      <p:sp>
        <p:nvSpPr>
          <p:cNvPr id="6" name="Rectangle 5"/>
          <p:cNvSpPr/>
          <p:nvPr/>
        </p:nvSpPr>
        <p:spPr>
          <a:xfrm>
            <a:off x="3516553" y="2880360"/>
            <a:ext cx="2419273" cy="178308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72585" y="3118104"/>
            <a:ext cx="1907209" cy="1307592"/>
          </a:xfrm>
          <a:prstGeom prst="rect">
            <a:avLst/>
          </a:prstGeom>
          <a:noFill/>
        </p:spPr>
        <p:txBody>
          <a:bodyPr wrap="square" lIns="0" rIns="0" tIns="0" bIns="0">
            <a:spAutoFit/>
          </a:bodyPr>
          <a:lstStyle/>
          <a:p>
            <a:pPr>
              <a:lnSpc>
                <a:spcPct val="115000"/>
              </a:lnSpc>
              <a:spcAft>
                <a:spcPts val="800"/>
              </a:spcAft>
            </a:pPr>
            <a:r>
              <a:rPr sz="1600" b="1" i="0">
                <a:solidFill>
                  <a:srgbClr val="131A24"/>
                </a:solidFill>
                <a:latin typeface="Iowan Old Style"/>
              </a:rPr>
              <a:t>Bulbul V3</a:t>
            </a:r>
          </a:p>
          <a:p>
            <a:pPr>
              <a:lnSpc>
                <a:spcPct val="140000"/>
              </a:lnSpc>
              <a:spcAft>
                <a:spcPts val="0"/>
              </a:spcAft>
            </a:pPr>
            <a:r>
              <a:rPr sz="1150" b="0" i="0">
                <a:solidFill>
                  <a:srgbClr val="5D6875"/>
                </a:solidFill>
                <a:latin typeface="Avenir Next"/>
              </a:rPr>
              <a:t>Natural synthesis with a real voice inventory, so a reply sounds like a person rather than a phone tree.</a:t>
            </a:r>
          </a:p>
        </p:txBody>
      </p:sp>
      <p:sp>
        <p:nvSpPr>
          <p:cNvPr id="8" name="Rectangle 7"/>
          <p:cNvSpPr/>
          <p:nvPr/>
        </p:nvSpPr>
        <p:spPr>
          <a:xfrm>
            <a:off x="6255866" y="2880360"/>
            <a:ext cx="2419273" cy="178308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1898" y="3118104"/>
            <a:ext cx="1907209" cy="1307592"/>
          </a:xfrm>
          <a:prstGeom prst="rect">
            <a:avLst/>
          </a:prstGeom>
          <a:noFill/>
        </p:spPr>
        <p:txBody>
          <a:bodyPr wrap="square" lIns="0" rIns="0" tIns="0" bIns="0">
            <a:spAutoFit/>
          </a:bodyPr>
          <a:lstStyle/>
          <a:p>
            <a:pPr>
              <a:lnSpc>
                <a:spcPct val="115000"/>
              </a:lnSpc>
              <a:spcAft>
                <a:spcPts val="800"/>
              </a:spcAft>
            </a:pPr>
            <a:r>
              <a:rPr sz="1600" b="1" i="0">
                <a:solidFill>
                  <a:srgbClr val="131A24"/>
                </a:solidFill>
                <a:latin typeface="Iowan Old Style"/>
              </a:rPr>
              <a:t>Sarvam 30B / 105B</a:t>
            </a:r>
          </a:p>
          <a:p>
            <a:pPr>
              <a:lnSpc>
                <a:spcPct val="140000"/>
              </a:lnSpc>
              <a:spcAft>
                <a:spcPts val="0"/>
              </a:spcAft>
            </a:pPr>
            <a:r>
              <a:rPr sz="1150" b="0" i="0">
                <a:solidFill>
                  <a:srgbClr val="5D6875"/>
                </a:solidFill>
                <a:latin typeface="Avenir Next"/>
              </a:rPr>
              <a:t>Reasoning tuned on Indian languages and idiom, where general models flatten dialect into approximation.</a:t>
            </a:r>
          </a:p>
        </p:txBody>
      </p:sp>
      <p:sp>
        <p:nvSpPr>
          <p:cNvPr id="10" name="Rectangle 9"/>
          <p:cNvSpPr/>
          <p:nvPr/>
        </p:nvSpPr>
        <p:spPr>
          <a:xfrm>
            <a:off x="8995179" y="2880360"/>
            <a:ext cx="2419273" cy="178308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51211" y="3118104"/>
            <a:ext cx="1907209" cy="1307592"/>
          </a:xfrm>
          <a:prstGeom prst="rect">
            <a:avLst/>
          </a:prstGeom>
          <a:noFill/>
        </p:spPr>
        <p:txBody>
          <a:bodyPr wrap="square" lIns="0" rIns="0" tIns="0" bIns="0">
            <a:spAutoFit/>
          </a:bodyPr>
          <a:lstStyle/>
          <a:p>
            <a:pPr>
              <a:lnSpc>
                <a:spcPct val="115000"/>
              </a:lnSpc>
              <a:spcAft>
                <a:spcPts val="800"/>
              </a:spcAft>
            </a:pPr>
            <a:r>
              <a:rPr sz="1600" b="1" i="0">
                <a:solidFill>
                  <a:srgbClr val="131A24"/>
                </a:solidFill>
                <a:latin typeface="Iowan Old Style"/>
              </a:rPr>
              <a:t>Translate &amp; OCR</a:t>
            </a:r>
          </a:p>
          <a:p>
            <a:pPr>
              <a:lnSpc>
                <a:spcPct val="140000"/>
              </a:lnSpc>
              <a:spcAft>
                <a:spcPts val="0"/>
              </a:spcAft>
            </a:pPr>
            <a:r>
              <a:rPr sz="1150" b="0" i="0">
                <a:solidFill>
                  <a:srgbClr val="5D6875"/>
                </a:solidFill>
                <a:latin typeface="Avenir Next"/>
              </a:rPr>
              <a:t>Bridges a Marathi customer to English business data, and reads a forwarded bill or photographed form.</a:t>
            </a:r>
          </a:p>
        </p:txBody>
      </p:sp>
      <p:sp>
        <p:nvSpPr>
          <p:cNvPr id="12" name="TextBox 11"/>
          <p:cNvSpPr txBox="1"/>
          <p:nvPr/>
        </p:nvSpPr>
        <p:spPr>
          <a:xfrm>
            <a:off x="777240" y="4892040"/>
            <a:ext cx="8778240" cy="1188720"/>
          </a:xfrm>
          <a:prstGeom prst="rect">
            <a:avLst/>
          </a:prstGeom>
          <a:noFill/>
        </p:spPr>
        <p:txBody>
          <a:bodyPr wrap="square" lIns="0" rIns="0" tIns="0" bIns="0">
            <a:spAutoFit/>
          </a:bodyPr>
          <a:lstStyle/>
          <a:p>
            <a:pPr>
              <a:lnSpc>
                <a:spcPct val="140000"/>
              </a:lnSpc>
              <a:spcAft>
                <a:spcPts val="0"/>
              </a:spcAft>
            </a:pPr>
            <a:r>
              <a:rPr sz="1350" b="0" i="0">
                <a:solidFill>
                  <a:srgbClr val="5D6875"/>
                </a:solidFill>
                <a:latin typeface="Avenir Next"/>
              </a:rPr>
              <a:t>Sarvam is the capability layer; UCXP completes the job. Every additional Indian language Sarvam ships extends the reach of every manifest already published — the protocol turns model coverage directly into market coverage, with no per-business work.</a:t>
            </a:r>
          </a:p>
        </p:txBody>
      </p:sp>
      <p:sp>
        <p:nvSpPr>
          <p:cNvPr id="13" name="TextBox 12"/>
          <p:cNvSpPr txBox="1"/>
          <p:nvPr/>
        </p:nvSpPr>
        <p:spPr>
          <a:xfrm>
            <a:off x="777240" y="5943600"/>
            <a:ext cx="10058400" cy="822960"/>
          </a:xfrm>
          <a:prstGeom prst="rect">
            <a:avLst/>
          </a:prstGeom>
          <a:noFill/>
        </p:spPr>
        <p:txBody>
          <a:bodyPr wrap="square" lIns="0" rIns="0" tIns="0" bIns="0">
            <a:spAutoFit/>
          </a:bodyPr>
          <a:lstStyle/>
          <a:p>
            <a:pPr>
              <a:lnSpc>
                <a:spcPct val="140000"/>
              </a:lnSpc>
              <a:spcAft>
                <a:spcPts val="0"/>
              </a:spcAft>
            </a:pPr>
            <a:r>
              <a:rPr sz="1050" b="0" i="0">
                <a:solidFill>
                  <a:srgbClr val="7C8593"/>
                </a:solidFill>
                <a:latin typeface="Avenir Next"/>
              </a:rPr>
              <a:t>Data residency matters here specifically: this layer touches order histories, bills and account state — precisely the category the DPDP regime will govern most closely.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12</a:t>
            </a:r>
            <a:r>
              <a:rPr sz="900">
                <a:solidFill>
                  <a:srgbClr val="7C8593"/>
                </a:solidFill>
                <a:latin typeface="Menlo"/>
              </a:rPr>
              <a:t>     THE ECONOMICS</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400" b="1" i="0">
                <a:solidFill>
                  <a:srgbClr val="131A24"/>
                </a:solidFill>
                <a:latin typeface="Iowan Old Style"/>
              </a:rPr>
              <a:t>Support is a cost centre priced
per human minute.</a:t>
            </a:r>
          </a:p>
        </p:txBody>
      </p:sp>
      <p:sp>
        <p:nvSpPr>
          <p:cNvPr id="4" name="TextBox 3"/>
          <p:cNvSpPr txBox="1"/>
          <p:nvPr/>
        </p:nvSpPr>
        <p:spPr>
          <a:xfrm>
            <a:off x="777240" y="3017520"/>
            <a:ext cx="2419273" cy="1371600"/>
          </a:xfrm>
          <a:prstGeom prst="rect">
            <a:avLst/>
          </a:prstGeom>
          <a:noFill/>
        </p:spPr>
        <p:txBody>
          <a:bodyPr wrap="square" lIns="0" rIns="0" tIns="0" bIns="0">
            <a:spAutoFit/>
          </a:bodyPr>
          <a:lstStyle/>
          <a:p>
            <a:r>
              <a:rPr sz="3800" b="1">
                <a:solidFill>
                  <a:srgbClr val="B87A0D"/>
                </a:solidFill>
                <a:latin typeface="Iowan Old Style"/>
              </a:rPr>
              <a:t>$1.84</a:t>
            </a:r>
          </a:p>
          <a:p>
            <a:pPr>
              <a:lnSpc>
                <a:spcPct val="130000"/>
              </a:lnSpc>
              <a:spcBef>
                <a:spcPts val="600"/>
              </a:spcBef>
            </a:pPr>
            <a:r>
              <a:rPr sz="1100">
                <a:solidFill>
                  <a:srgbClr val="5D6875"/>
                </a:solidFill>
                <a:latin typeface="Avenir Next"/>
              </a:rPr>
              <a:t>The same contact resolved through self-service — roughly 7× cheaper</a:t>
            </a:r>
          </a:p>
        </p:txBody>
      </p:sp>
      <p:sp>
        <p:nvSpPr>
          <p:cNvPr id="5" name="TextBox 4"/>
          <p:cNvSpPr txBox="1"/>
          <p:nvPr/>
        </p:nvSpPr>
        <p:spPr>
          <a:xfrm>
            <a:off x="3516553" y="3017520"/>
            <a:ext cx="2419273" cy="1371600"/>
          </a:xfrm>
          <a:prstGeom prst="rect">
            <a:avLst/>
          </a:prstGeom>
          <a:noFill/>
        </p:spPr>
        <p:txBody>
          <a:bodyPr wrap="square" lIns="0" rIns="0" tIns="0" bIns="0">
            <a:spAutoFit/>
          </a:bodyPr>
          <a:lstStyle/>
          <a:p>
            <a:r>
              <a:rPr sz="3800" b="1">
                <a:solidFill>
                  <a:srgbClr val="131A24"/>
                </a:solidFill>
                <a:latin typeface="Iowan Old Style"/>
              </a:rPr>
              <a:t>$13.50</a:t>
            </a:r>
          </a:p>
          <a:p>
            <a:pPr>
              <a:lnSpc>
                <a:spcPct val="130000"/>
              </a:lnSpc>
              <a:spcBef>
                <a:spcPts val="600"/>
              </a:spcBef>
            </a:pPr>
            <a:r>
              <a:rPr sz="1100">
                <a:solidFill>
                  <a:srgbClr val="5D6875"/>
                </a:solidFill>
                <a:latin typeface="Avenir Next"/>
              </a:rPr>
              <a:t>Gartner benchmark: cost of one assisted support contact</a:t>
            </a:r>
          </a:p>
        </p:txBody>
      </p:sp>
      <p:sp>
        <p:nvSpPr>
          <p:cNvPr id="6" name="TextBox 5"/>
          <p:cNvSpPr txBox="1"/>
          <p:nvPr/>
        </p:nvSpPr>
        <p:spPr>
          <a:xfrm>
            <a:off x="6255866" y="3017520"/>
            <a:ext cx="2419273" cy="1371600"/>
          </a:xfrm>
          <a:prstGeom prst="rect">
            <a:avLst/>
          </a:prstGeom>
          <a:noFill/>
        </p:spPr>
        <p:txBody>
          <a:bodyPr wrap="square" lIns="0" rIns="0" tIns="0" bIns="0">
            <a:spAutoFit/>
          </a:bodyPr>
          <a:lstStyle/>
          <a:p>
            <a:r>
              <a:rPr sz="3800" b="1">
                <a:solidFill>
                  <a:srgbClr val="131A24"/>
                </a:solidFill>
                <a:latin typeface="Iowan Old Style"/>
              </a:rPr>
              <a:t>40–50</a:t>
            </a:r>
            <a:r>
              <a:rPr sz="1700">
                <a:solidFill>
                  <a:srgbClr val="7C8593"/>
                </a:solidFill>
                <a:latin typeface="Iowan Old Style"/>
              </a:rPr>
              <a:t> %</a:t>
            </a:r>
          </a:p>
          <a:p>
            <a:pPr>
              <a:lnSpc>
                <a:spcPct val="130000"/>
              </a:lnSpc>
              <a:spcBef>
                <a:spcPts val="600"/>
              </a:spcBef>
            </a:pPr>
            <a:r>
              <a:rPr sz="1100">
                <a:solidFill>
                  <a:srgbClr val="5D6875"/>
                </a:solidFill>
                <a:latin typeface="Avenir Next"/>
              </a:rPr>
              <a:t>Reduction in agents needed with AI deployed, per McKinsey</a:t>
            </a:r>
          </a:p>
        </p:txBody>
      </p:sp>
      <p:sp>
        <p:nvSpPr>
          <p:cNvPr id="7" name="TextBox 6"/>
          <p:cNvSpPr txBox="1"/>
          <p:nvPr/>
        </p:nvSpPr>
        <p:spPr>
          <a:xfrm>
            <a:off x="8995179" y="3017520"/>
            <a:ext cx="2419273" cy="1371600"/>
          </a:xfrm>
          <a:prstGeom prst="rect">
            <a:avLst/>
          </a:prstGeom>
          <a:noFill/>
        </p:spPr>
        <p:txBody>
          <a:bodyPr wrap="square" lIns="0" rIns="0" tIns="0" bIns="0">
            <a:spAutoFit/>
          </a:bodyPr>
          <a:lstStyle/>
          <a:p>
            <a:r>
              <a:rPr sz="3800" b="1">
                <a:solidFill>
                  <a:srgbClr val="131A24"/>
                </a:solidFill>
                <a:latin typeface="Iowan Old Style"/>
              </a:rPr>
              <a:t>92</a:t>
            </a:r>
            <a:r>
              <a:rPr sz="1700">
                <a:solidFill>
                  <a:srgbClr val="7C8593"/>
                </a:solidFill>
                <a:latin typeface="Iowan Old Style"/>
              </a:rPr>
              <a:t> %</a:t>
            </a:r>
          </a:p>
          <a:p>
            <a:pPr>
              <a:lnSpc>
                <a:spcPct val="130000"/>
              </a:lnSpc>
              <a:spcBef>
                <a:spcPts val="600"/>
              </a:spcBef>
            </a:pPr>
            <a:r>
              <a:rPr sz="1100">
                <a:solidFill>
                  <a:srgbClr val="5D6875"/>
                </a:solidFill>
                <a:latin typeface="Avenir Next"/>
              </a:rPr>
              <a:t>Of companies report higher customer satisfaction after AI</a:t>
            </a:r>
          </a:p>
        </p:txBody>
      </p:sp>
      <p:sp>
        <p:nvSpPr>
          <p:cNvPr id="8" name="Rectangle 7"/>
          <p:cNvSpPr/>
          <p:nvPr/>
        </p:nvSpPr>
        <p:spPr>
          <a:xfrm>
            <a:off x="777240" y="4846320"/>
            <a:ext cx="10637215" cy="9525"/>
          </a:xfrm>
          <a:prstGeom prst="rect">
            <a:avLst/>
          </a:prstGeom>
          <a:solidFill>
            <a:srgbClr val="DD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074920"/>
            <a:ext cx="8778240" cy="1188720"/>
          </a:xfrm>
          <a:prstGeom prst="rect">
            <a:avLst/>
          </a:prstGeom>
          <a:noFill/>
        </p:spPr>
        <p:txBody>
          <a:bodyPr wrap="square" lIns="0" rIns="0" tIns="0" bIns="0">
            <a:spAutoFit/>
          </a:bodyPr>
          <a:lstStyle/>
          <a:p>
            <a:pPr>
              <a:lnSpc>
                <a:spcPct val="140000"/>
              </a:lnSpc>
              <a:spcAft>
                <a:spcPts val="0"/>
              </a:spcAft>
            </a:pPr>
            <a:r>
              <a:rPr sz="1400" b="0" i="0">
                <a:solidFill>
                  <a:srgbClr val="5D6875"/>
                </a:solidFill>
                <a:latin typeface="Avenir Next"/>
              </a:rPr>
              <a:t>A 100-seat centre automating half its routine contacts saves on the order of ₹1.2M a month in wages alone. The buyer does not need to believe a market forecast to sign — the saving is legible on their own current invoice.</a:t>
            </a:r>
          </a:p>
        </p:txBody>
      </p:sp>
      <p:sp>
        <p:nvSpPr>
          <p:cNvPr id="10" name="TextBox 9"/>
          <p:cNvSpPr txBox="1"/>
          <p:nvPr/>
        </p:nvSpPr>
        <p:spPr>
          <a:xfrm>
            <a:off x="777240" y="6080760"/>
            <a:ext cx="10058400" cy="822960"/>
          </a:xfrm>
          <a:prstGeom prst="rect">
            <a:avLst/>
          </a:prstGeom>
          <a:noFill/>
        </p:spPr>
        <p:txBody>
          <a:bodyPr wrap="square" lIns="0" rIns="0" tIns="0" bIns="0">
            <a:spAutoFit/>
          </a:bodyPr>
          <a:lstStyle/>
          <a:p>
            <a:pPr>
              <a:lnSpc>
                <a:spcPct val="140000"/>
              </a:lnSpc>
              <a:spcAft>
                <a:spcPts val="0"/>
              </a:spcAft>
            </a:pPr>
            <a:r>
              <a:rPr sz="1050" b="0" i="0">
                <a:solidFill>
                  <a:srgbClr val="7C8593"/>
                </a:solidFill>
                <a:latin typeface="Avenir Next"/>
              </a:rPr>
              <a:t>Revenue accrues twice: per-business subscription on the protocol layer, and Sarvam API consumption underneath every resolved contact.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13</a:t>
            </a:r>
            <a:r>
              <a:rPr sz="900">
                <a:solidFill>
                  <a:srgbClr val="7C8593"/>
                </a:solidFill>
                <a:latin typeface="Menlo"/>
              </a:rPr>
              <a:t>     MARKET</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400" b="1" i="0">
                <a:solidFill>
                  <a:srgbClr val="131A24"/>
                </a:solidFill>
                <a:latin typeface="Iowan Old Style"/>
              </a:rPr>
              <a:t>Reach compounds through businesses,
not installs.</a:t>
            </a:r>
          </a:p>
        </p:txBody>
      </p:sp>
      <p:graphicFrame>
        <p:nvGraphicFramePr>
          <p:cNvPr id="4" name="Table 3"/>
          <p:cNvGraphicFramePr>
            <a:graphicFrameLocks noGrp="1"/>
          </p:cNvGraphicFramePr>
          <p:nvPr/>
        </p:nvGraphicFramePr>
        <p:xfrm>
          <a:off x="777240" y="3017520"/>
          <a:ext cx="10637214" cy="1371600"/>
        </p:xfrm>
        <a:graphic>
          <a:graphicData uri="http://schemas.openxmlformats.org/drawingml/2006/table">
            <a:tbl>
              <a:tblPr bandRow="1">
                <a:tableStyleId>{5C22544A-7EE6-4342-B048-85BDC9FD1C3A}</a:tableStyleId>
              </a:tblPr>
              <a:tblGrid>
                <a:gridCol w="1329651"/>
                <a:gridCol w="2127443"/>
                <a:gridCol w="2127443"/>
                <a:gridCol w="5052677"/>
              </a:tblGrid>
              <a:tr h="342900">
                <a:tc>
                  <a:txBody>
                    <a:bodyPr/>
                    <a:lstStyle/>
                    <a:p>
                      <a:r>
                        <a:rPr sz="850" b="0">
                          <a:solidFill>
                            <a:srgbClr val="7C8593"/>
                          </a:solidFill>
                          <a:latin typeface="Menlo"/>
                        </a:rPr>
                        <a:t>HORIZON</a:t>
                      </a:r>
                    </a:p>
                  </a:txBody>
                  <a:tcPr marL="73152" marR="73152" anchor="ctr">
                    <a:solidFill>
                      <a:srgbClr val="FBFAF7"/>
                    </a:solidFill>
                  </a:tcPr>
                </a:tc>
                <a:tc>
                  <a:txBody>
                    <a:bodyPr/>
                    <a:lstStyle/>
                    <a:p>
                      <a:r>
                        <a:rPr sz="850" b="0">
                          <a:solidFill>
                            <a:srgbClr val="7C8593"/>
                          </a:solidFill>
                          <a:latin typeface="Menlo"/>
                        </a:rPr>
                        <a:t>BUSINESSES ON UCXP</a:t>
                      </a:r>
                    </a:p>
                  </a:txBody>
                  <a:tcPr marL="73152" marR="73152" anchor="ctr">
                    <a:solidFill>
                      <a:srgbClr val="FBFAF7"/>
                    </a:solidFill>
                  </a:tcPr>
                </a:tc>
                <a:tc>
                  <a:txBody>
                    <a:bodyPr/>
                    <a:lstStyle/>
                    <a:p>
                      <a:r>
                        <a:rPr sz="850" b="0">
                          <a:solidFill>
                            <a:srgbClr val="7C8593"/>
                          </a:solidFill>
                          <a:latin typeface="Menlo"/>
                        </a:rPr>
                        <a:t>CUSTOMERS REACHABLE</a:t>
                      </a:r>
                    </a:p>
                  </a:txBody>
                  <a:tcPr marL="73152" marR="73152" anchor="ctr">
                    <a:solidFill>
                      <a:srgbClr val="FBFAF7"/>
                    </a:solidFill>
                  </a:tcPr>
                </a:tc>
                <a:tc>
                  <a:txBody>
                    <a:bodyPr/>
                    <a:lstStyle/>
                    <a:p>
                      <a:r>
                        <a:rPr sz="850" b="0">
                          <a:solidFill>
                            <a:srgbClr val="7C8593"/>
                          </a:solidFill>
                          <a:latin typeface="Menlo"/>
                        </a:rPr>
                        <a:t>ROUTE IN</a:t>
                      </a:r>
                    </a:p>
                  </a:txBody>
                  <a:tcPr marL="73152" marR="73152" anchor="ctr">
                    <a:solidFill>
                      <a:srgbClr val="FBFAF7"/>
                    </a:solidFill>
                  </a:tcPr>
                </a:tc>
              </a:tr>
              <a:tr h="342900">
                <a:tc>
                  <a:txBody>
                    <a:bodyPr/>
                    <a:lstStyle/>
                    <a:p>
                      <a:pPr>
                        <a:lnSpc>
                          <a:spcPct val="125000"/>
                        </a:lnSpc>
                      </a:pPr>
                      <a:r>
                        <a:rPr sz="1200" b="1">
                          <a:solidFill>
                            <a:srgbClr val="131A24"/>
                          </a:solidFill>
                          <a:latin typeface="Avenir Next"/>
                        </a:rPr>
                        <a:t>Year 1</a:t>
                      </a:r>
                    </a:p>
                  </a:txBody>
                  <a:tcPr marL="73152" marR="73152" marT="45720" marB="45720" anchor="t">
                    <a:solidFill>
                      <a:srgbClr val="FBFAF7"/>
                    </a:solidFill>
                  </a:tcPr>
                </a:tc>
                <a:tc>
                  <a:txBody>
                    <a:bodyPr/>
                    <a:lstStyle/>
                    <a:p>
                      <a:pPr>
                        <a:lnSpc>
                          <a:spcPct val="125000"/>
                        </a:lnSpc>
                      </a:pPr>
                      <a:r>
                        <a:rPr sz="1200">
                          <a:solidFill>
                            <a:srgbClr val="131A24"/>
                          </a:solidFill>
                          <a:latin typeface="Menlo"/>
                        </a:rPr>
                        <a:t>~1,000</a:t>
                      </a:r>
                    </a:p>
                  </a:txBody>
                  <a:tcPr marL="73152" marR="73152" marT="45720" marB="45720" anchor="t">
                    <a:solidFill>
                      <a:srgbClr val="FBFAF7"/>
                    </a:solidFill>
                  </a:tcPr>
                </a:tc>
                <a:tc>
                  <a:txBody>
                    <a:bodyPr/>
                    <a:lstStyle/>
                    <a:p>
                      <a:pPr>
                        <a:lnSpc>
                          <a:spcPct val="125000"/>
                        </a:lnSpc>
                      </a:pPr>
                      <a:r>
                        <a:rPr sz="1200">
                          <a:solidFill>
                            <a:srgbClr val="131A24"/>
                          </a:solidFill>
                          <a:latin typeface="Menlo"/>
                        </a:rPr>
                        <a:t>~100M</a:t>
                      </a:r>
                    </a:p>
                  </a:txBody>
                  <a:tcPr marL="73152" marR="73152" marT="45720" marB="45720" anchor="t">
                    <a:solidFill>
                      <a:srgbClr val="FBFAF7"/>
                    </a:solidFill>
                  </a:tcPr>
                </a:tc>
                <a:tc>
                  <a:txBody>
                    <a:bodyPr/>
                    <a:lstStyle/>
                    <a:p>
                      <a:pPr>
                        <a:lnSpc>
                          <a:spcPct val="125000"/>
                        </a:lnSpc>
                      </a:pPr>
                      <a:r>
                        <a:rPr sz="1200">
                          <a:solidFill>
                            <a:srgbClr val="5D6875"/>
                          </a:solidFill>
                          <a:latin typeface="Avenir Next"/>
                        </a:rPr>
                        <a:t>Enterprise pilots — e-commerce, telecom, BFSI</a:t>
                      </a:r>
                    </a:p>
                  </a:txBody>
                  <a:tcPr marL="73152" marR="73152" marT="45720" marB="45720" anchor="t">
                    <a:solidFill>
                      <a:srgbClr val="FBFAF7"/>
                    </a:solidFill>
                  </a:tcPr>
                </a:tc>
              </a:tr>
              <a:tr h="342900">
                <a:tc>
                  <a:txBody>
                    <a:bodyPr/>
                    <a:lstStyle/>
                    <a:p>
                      <a:pPr>
                        <a:lnSpc>
                          <a:spcPct val="125000"/>
                        </a:lnSpc>
                      </a:pPr>
                      <a:r>
                        <a:rPr sz="1200" b="1">
                          <a:solidFill>
                            <a:srgbClr val="131A24"/>
                          </a:solidFill>
                          <a:latin typeface="Avenir Next"/>
                        </a:rPr>
                        <a:t>Year 3</a:t>
                      </a:r>
                    </a:p>
                  </a:txBody>
                  <a:tcPr marL="73152" marR="73152" marT="45720" marB="45720" anchor="t">
                    <a:solidFill>
                      <a:srgbClr val="FBFAF7"/>
                    </a:solidFill>
                  </a:tcPr>
                </a:tc>
                <a:tc>
                  <a:txBody>
                    <a:bodyPr/>
                    <a:lstStyle/>
                    <a:p>
                      <a:pPr>
                        <a:lnSpc>
                          <a:spcPct val="125000"/>
                        </a:lnSpc>
                      </a:pPr>
                      <a:r>
                        <a:rPr sz="1200">
                          <a:solidFill>
                            <a:srgbClr val="131A24"/>
                          </a:solidFill>
                          <a:latin typeface="Menlo"/>
                        </a:rPr>
                        <a:t>~50,000</a:t>
                      </a:r>
                    </a:p>
                  </a:txBody>
                  <a:tcPr marL="73152" marR="73152" marT="45720" marB="45720" anchor="t">
                    <a:solidFill>
                      <a:srgbClr val="FBFAF7"/>
                    </a:solidFill>
                  </a:tcPr>
                </a:tc>
                <a:tc>
                  <a:txBody>
                    <a:bodyPr/>
                    <a:lstStyle/>
                    <a:p>
                      <a:pPr>
                        <a:lnSpc>
                          <a:spcPct val="125000"/>
                        </a:lnSpc>
                      </a:pPr>
                      <a:r>
                        <a:rPr sz="1200">
                          <a:solidFill>
                            <a:srgbClr val="131A24"/>
                          </a:solidFill>
                          <a:latin typeface="Menlo"/>
                        </a:rPr>
                        <a:t>~500M</a:t>
                      </a:r>
                    </a:p>
                  </a:txBody>
                  <a:tcPr marL="73152" marR="73152" marT="45720" marB="45720" anchor="t">
                    <a:solidFill>
                      <a:srgbClr val="FBFAF7"/>
                    </a:solidFill>
                  </a:tcPr>
                </a:tc>
                <a:tc>
                  <a:txBody>
                    <a:bodyPr/>
                    <a:lstStyle/>
                    <a:p>
                      <a:pPr>
                        <a:lnSpc>
                          <a:spcPct val="125000"/>
                        </a:lnSpc>
                      </a:pPr>
                      <a:r>
                        <a:rPr sz="1200">
                          <a:solidFill>
                            <a:srgbClr val="5D6875"/>
                          </a:solidFill>
                          <a:latin typeface="Avenir Next"/>
                        </a:rPr>
                        <a:t>Sector expansion plus the first 10k SMEs</a:t>
                      </a:r>
                    </a:p>
                  </a:txBody>
                  <a:tcPr marL="73152" marR="73152" marT="45720" marB="45720" anchor="t">
                    <a:solidFill>
                      <a:srgbClr val="FBFAF7"/>
                    </a:solidFill>
                  </a:tcPr>
                </a:tc>
              </a:tr>
              <a:tr h="342900">
                <a:tc>
                  <a:txBody>
                    <a:bodyPr/>
                    <a:lstStyle/>
                    <a:p>
                      <a:pPr>
                        <a:lnSpc>
                          <a:spcPct val="125000"/>
                        </a:lnSpc>
                      </a:pPr>
                      <a:r>
                        <a:rPr sz="1200" b="1">
                          <a:solidFill>
                            <a:srgbClr val="131A24"/>
                          </a:solidFill>
                          <a:latin typeface="Avenir Next"/>
                        </a:rPr>
                        <a:t>Year 5</a:t>
                      </a:r>
                    </a:p>
                  </a:txBody>
                  <a:tcPr marL="73152" marR="73152" marT="45720" marB="45720" anchor="t">
                    <a:solidFill>
                      <a:srgbClr val="FBFAF7"/>
                    </a:solidFill>
                  </a:tcPr>
                </a:tc>
                <a:tc>
                  <a:txBody>
                    <a:bodyPr/>
                    <a:lstStyle/>
                    <a:p>
                      <a:pPr>
                        <a:lnSpc>
                          <a:spcPct val="125000"/>
                        </a:lnSpc>
                      </a:pPr>
                      <a:r>
                        <a:rPr sz="1200">
                          <a:solidFill>
                            <a:srgbClr val="131A24"/>
                          </a:solidFill>
                          <a:latin typeface="Menlo"/>
                        </a:rPr>
                        <a:t>~500,000</a:t>
                      </a:r>
                    </a:p>
                  </a:txBody>
                  <a:tcPr marL="73152" marR="73152" marT="45720" marB="45720" anchor="t">
                    <a:solidFill>
                      <a:srgbClr val="FBFAF7"/>
                    </a:solidFill>
                  </a:tcPr>
                </a:tc>
                <a:tc>
                  <a:txBody>
                    <a:bodyPr/>
                    <a:lstStyle/>
                    <a:p>
                      <a:pPr>
                        <a:lnSpc>
                          <a:spcPct val="125000"/>
                        </a:lnSpc>
                      </a:pPr>
                      <a:r>
                        <a:rPr sz="1200">
                          <a:solidFill>
                            <a:srgbClr val="131A24"/>
                          </a:solidFill>
                          <a:latin typeface="Menlo"/>
                        </a:rPr>
                        <a:t>~1B</a:t>
                      </a:r>
                    </a:p>
                  </a:txBody>
                  <a:tcPr marL="73152" marR="73152" marT="45720" marB="45720" anchor="t">
                    <a:solidFill>
                      <a:srgbClr val="FBFAF7"/>
                    </a:solidFill>
                  </a:tcPr>
                </a:tc>
                <a:tc>
                  <a:txBody>
                    <a:bodyPr/>
                    <a:lstStyle/>
                    <a:p>
                      <a:pPr>
                        <a:lnSpc>
                          <a:spcPct val="125000"/>
                        </a:lnSpc>
                      </a:pPr>
                      <a:r>
                        <a:rPr sz="1200">
                          <a:solidFill>
                            <a:srgbClr val="5D6875"/>
                          </a:solidFill>
                          <a:latin typeface="Avenir Next"/>
                        </a:rPr>
                        <a:t>Platform bundling into POS and CRM tools</a:t>
                      </a:r>
                    </a:p>
                  </a:txBody>
                  <a:tcPr marL="73152" marR="73152" marT="45720" marB="45720" anchor="t">
                    <a:solidFill>
                      <a:srgbClr val="FBFAF7"/>
                    </a:solidFill>
                  </a:tcPr>
                </a:tc>
              </a:tr>
            </a:tbl>
          </a:graphicData>
        </a:graphic>
      </p:graphicFrame>
      <p:sp>
        <p:nvSpPr>
          <p:cNvPr id="5" name="TextBox 4"/>
          <p:cNvSpPr txBox="1"/>
          <p:nvPr/>
        </p:nvSpPr>
        <p:spPr>
          <a:xfrm>
            <a:off x="777240" y="4709160"/>
            <a:ext cx="8778240" cy="1188720"/>
          </a:xfrm>
          <a:prstGeom prst="rect">
            <a:avLst/>
          </a:prstGeom>
          <a:noFill/>
        </p:spPr>
        <p:txBody>
          <a:bodyPr wrap="square" lIns="0" rIns="0" tIns="0" bIns="0">
            <a:spAutoFit/>
          </a:bodyPr>
          <a:lstStyle/>
          <a:p>
            <a:pPr>
              <a:lnSpc>
                <a:spcPct val="140000"/>
              </a:lnSpc>
              <a:spcAft>
                <a:spcPts val="0"/>
              </a:spcAft>
            </a:pPr>
            <a:r>
              <a:rPr sz="1400" b="0" i="0">
                <a:solidFill>
                  <a:srgbClr val="5D6875"/>
                </a:solidFill>
                <a:latin typeface="Avenir Next"/>
              </a:rPr>
              <a:t>One enterprise manifest exposes millions of that company's customers on day one. Adoption is a B2B motion with B2C reach — which is why the customer curve outruns the business curve by three orders of magnitude.</a:t>
            </a:r>
          </a:p>
        </p:txBody>
      </p:sp>
      <p:sp>
        <p:nvSpPr>
          <p:cNvPr id="6" name="TextBox 5"/>
          <p:cNvSpPr txBox="1"/>
          <p:nvPr/>
        </p:nvSpPr>
        <p:spPr>
          <a:xfrm>
            <a:off x="777240" y="5760720"/>
            <a:ext cx="10058400" cy="822960"/>
          </a:xfrm>
          <a:prstGeom prst="rect">
            <a:avLst/>
          </a:prstGeom>
          <a:noFill/>
        </p:spPr>
        <p:txBody>
          <a:bodyPr wrap="square" lIns="0" rIns="0" tIns="0" bIns="0">
            <a:spAutoFit/>
          </a:bodyPr>
          <a:lstStyle/>
          <a:p>
            <a:pPr>
              <a:lnSpc>
                <a:spcPct val="140000"/>
              </a:lnSpc>
              <a:spcAft>
                <a:spcPts val="0"/>
              </a:spcAft>
            </a:pPr>
            <a:r>
              <a:rPr sz="1050" b="0" i="0">
                <a:solidFill>
                  <a:srgbClr val="7C8593"/>
                </a:solidFill>
                <a:latin typeface="Avenir Next"/>
              </a:rPr>
              <a:t>Distribution is already built: 97% of Indian MSMEs use WhatsApp, and 400M+ Indians are reachable there. No install required for the majority of this market.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14</a:t>
            </a:r>
            <a:r>
              <a:rPr sz="900">
                <a:solidFill>
                  <a:srgbClr val="7C8593"/>
                </a:solidFill>
                <a:latin typeface="Menlo"/>
              </a:rPr>
              <a:t>     GO TO MARKET</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400" b="1" i="0">
                <a:solidFill>
                  <a:srgbClr val="131A24"/>
                </a:solidFill>
                <a:latin typeface="Iowan Old Style"/>
              </a:rPr>
              <a:t>Land where the queries are routine
and the volume is enormous.</a:t>
            </a:r>
          </a:p>
        </p:txBody>
      </p:sp>
      <p:sp>
        <p:nvSpPr>
          <p:cNvPr id="4" name="TextBox 3"/>
          <p:cNvSpPr txBox="1"/>
          <p:nvPr/>
        </p:nvSpPr>
        <p:spPr>
          <a:xfrm>
            <a:off x="777240" y="2926080"/>
            <a:ext cx="5852160" cy="2926080"/>
          </a:xfrm>
          <a:prstGeom prst="rect">
            <a:avLst/>
          </a:prstGeom>
          <a:noFill/>
        </p:spPr>
        <p:txBody>
          <a:bodyPr wrap="square" lIns="0" rIns="0" tIns="0" bIns="0">
            <a:spAutoFit/>
          </a:bodyPr>
          <a:lstStyle/>
          <a:p/>
          <a:p>
            <a:pPr>
              <a:lnSpc>
                <a:spcPct val="140000"/>
              </a:lnSpc>
              <a:spcAft>
                <a:spcPts val="1300"/>
              </a:spcAft>
            </a:pPr>
            <a:r>
              <a:rPr sz="1300">
                <a:solidFill>
                  <a:srgbClr val="B87A0D"/>
                </a:solidFill>
                <a:latin typeface="Menlo"/>
              </a:rPr>
              <a:t>— </a:t>
            </a:r>
            <a:r>
              <a:rPr sz="1300" b="1">
                <a:solidFill>
                  <a:srgbClr val="131A24"/>
                </a:solidFill>
                <a:latin typeface="Avenir Next"/>
              </a:rPr>
              <a:t>Pilot verticals — </a:t>
            </a:r>
            <a:r>
              <a:rPr sz="1300">
                <a:solidFill>
                  <a:srgbClr val="5D6875"/>
                </a:solidFill>
                <a:latin typeface="Avenir Next"/>
              </a:rPr>
              <a:t>e-commerce, telecom and banking, where order status, billing and balance queries are high-volume and low-variance.</a:t>
            </a:r>
          </a:p>
          <a:p>
            <a:pPr>
              <a:lnSpc>
                <a:spcPct val="140000"/>
              </a:lnSpc>
              <a:spcAft>
                <a:spcPts val="1300"/>
              </a:spcAft>
            </a:pPr>
            <a:r>
              <a:rPr sz="1300">
                <a:solidFill>
                  <a:srgbClr val="B87A0D"/>
                </a:solidFill>
                <a:latin typeface="Menlo"/>
              </a:rPr>
              <a:t>— </a:t>
            </a:r>
            <a:r>
              <a:rPr sz="1300" b="1">
                <a:solidFill>
                  <a:srgbClr val="131A24"/>
                </a:solidFill>
                <a:latin typeface="Avenir Next"/>
              </a:rPr>
              <a:t>Platform bundling — </a:t>
            </a:r>
            <a:r>
              <a:rPr sz="1300">
                <a:solidFill>
                  <a:srgbClr val="5D6875"/>
                </a:solidFill>
                <a:latin typeface="Avenir Next"/>
              </a:rPr>
              <a:t>ship UCXP inside the POS, CRM and commerce tools small merchants already run, instead of selling to 76M businesses one at a time.</a:t>
            </a:r>
          </a:p>
          <a:p>
            <a:pPr>
              <a:lnSpc>
                <a:spcPct val="140000"/>
              </a:lnSpc>
              <a:spcAft>
                <a:spcPts val="1300"/>
              </a:spcAft>
            </a:pPr>
            <a:r>
              <a:rPr sz="1300">
                <a:solidFill>
                  <a:srgbClr val="B87A0D"/>
                </a:solidFill>
                <a:latin typeface="Menlo"/>
              </a:rPr>
              <a:t>— </a:t>
            </a:r>
            <a:r>
              <a:rPr sz="1300" b="1">
                <a:solidFill>
                  <a:srgbClr val="131A24"/>
                </a:solidFill>
                <a:latin typeface="Avenir Next"/>
              </a:rPr>
              <a:t>Public services — </a:t>
            </a:r>
            <a:r>
              <a:rPr sz="1300">
                <a:solidFill>
                  <a:srgbClr val="5D6875"/>
                </a:solidFill>
                <a:latin typeface="Avenir Next"/>
              </a:rPr>
              <a:t>grievance redressal is the highest-empathy use of a vernacular resolution layer, and the strongest case for it as public infrastructure.</a:t>
            </a:r>
          </a:p>
        </p:txBody>
      </p:sp>
      <p:sp>
        <p:nvSpPr>
          <p:cNvPr id="5" name="Rectangle 4"/>
          <p:cNvSpPr/>
          <p:nvPr/>
        </p:nvSpPr>
        <p:spPr>
          <a:xfrm>
            <a:off x="7086600" y="2926080"/>
            <a:ext cx="4327855" cy="265176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0920" y="3163824"/>
            <a:ext cx="3779215" cy="2194560"/>
          </a:xfrm>
          <a:prstGeom prst="rect">
            <a:avLst/>
          </a:prstGeom>
          <a:noFill/>
        </p:spPr>
        <p:txBody>
          <a:bodyPr wrap="square" lIns="0" rIns="0" tIns="0" bIns="0">
            <a:spAutoFit/>
          </a:bodyPr>
          <a:lstStyle/>
          <a:p>
            <a:pPr>
              <a:spcAft>
                <a:spcPts val="1000"/>
              </a:spcAft>
            </a:pPr>
            <a:r>
              <a:rPr sz="1600" b="1" i="0">
                <a:solidFill>
                  <a:srgbClr val="131A24"/>
                </a:solidFill>
                <a:latin typeface="Iowan Old Style"/>
              </a:rPr>
              <a:t>Why a merchant says yes</a:t>
            </a:r>
          </a:p>
          <a:p>
            <a:pPr>
              <a:lnSpc>
                <a:spcPct val="140000"/>
              </a:lnSpc>
              <a:spcAft>
                <a:spcPts val="1000"/>
              </a:spcAft>
            </a:pPr>
            <a:r>
              <a:rPr sz="1150" b="0" i="0">
                <a:solidFill>
                  <a:srgbClr val="5D6875"/>
                </a:solidFill>
                <a:latin typeface="Avenir Next"/>
              </a:rPr>
              <a:t>The five Shopify merchant manifests already in the repo are the wedge: a small merchant does not buy a support platform, but will accept one bundled into the commerce stack they already pay for. Their manifest is generated from their catalogue and policies, not authored by hand.</a:t>
            </a:r>
          </a:p>
          <a:p>
            <a:pPr>
              <a:lnSpc>
                <a:spcPct val="140000"/>
              </a:lnSpc>
              <a:spcAft>
                <a:spcPts val="0"/>
              </a:spcAft>
            </a:pPr>
            <a:r>
              <a:rPr sz="1150" b="0" i="0">
                <a:solidFill>
                  <a:srgbClr val="131A24"/>
                </a:solidFill>
                <a:latin typeface="Avenir Next"/>
              </a:rPr>
              <a:t>Onboarding cost approaching zero is what makes the long tail addressable — and the long tail is 99.3% of the businesses.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15</a:t>
            </a:r>
            <a:r>
              <a:rPr sz="900">
                <a:solidFill>
                  <a:srgbClr val="7C8593"/>
                </a:solidFill>
                <a:latin typeface="Menlo"/>
              </a:rPr>
              <a:t>     DEFENSIBILITY</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400" b="1" i="0">
                <a:solidFill>
                  <a:srgbClr val="131A24"/>
                </a:solidFill>
                <a:latin typeface="Iowan Old Style"/>
              </a:rPr>
              <a:t>The moat is the manifest registry,
and it compounds from both ends.</a:t>
            </a:r>
          </a:p>
        </p:txBody>
      </p:sp>
      <p:sp>
        <p:nvSpPr>
          <p:cNvPr id="4" name="Rectangle 3"/>
          <p:cNvSpPr/>
          <p:nvPr/>
        </p:nvSpPr>
        <p:spPr>
          <a:xfrm>
            <a:off x="777240" y="2971800"/>
            <a:ext cx="5158587" cy="173736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 y="3209544"/>
            <a:ext cx="4646523" cy="1261872"/>
          </a:xfrm>
          <a:prstGeom prst="rect">
            <a:avLst/>
          </a:prstGeom>
          <a:noFill/>
        </p:spPr>
        <p:txBody>
          <a:bodyPr wrap="square" lIns="0" rIns="0" tIns="0" bIns="0">
            <a:spAutoFit/>
          </a:bodyPr>
          <a:lstStyle/>
          <a:p>
            <a:pPr>
              <a:lnSpc>
                <a:spcPct val="115000"/>
              </a:lnSpc>
              <a:spcAft>
                <a:spcPts val="800"/>
              </a:spcAft>
            </a:pPr>
            <a:r>
              <a:rPr sz="1600" b="1" i="0">
                <a:solidFill>
                  <a:srgbClr val="131A24"/>
                </a:solidFill>
                <a:latin typeface="Iowan Old Style"/>
              </a:rPr>
              <a:t>Each business added</a:t>
            </a:r>
          </a:p>
          <a:p>
            <a:pPr>
              <a:lnSpc>
                <a:spcPct val="140000"/>
              </a:lnSpc>
              <a:spcAft>
                <a:spcPts val="0"/>
              </a:spcAft>
            </a:pPr>
            <a:r>
              <a:rPr sz="1150" b="0" i="0">
                <a:solidFill>
                  <a:srgbClr val="5D6875"/>
                </a:solidFill>
                <a:latin typeface="Avenir Next"/>
              </a:rPr>
              <a:t>makes every client more useful, because one app now resolves one more job. Customers consolidate onto the interface that covers the most of their life.</a:t>
            </a:r>
          </a:p>
        </p:txBody>
      </p:sp>
      <p:sp>
        <p:nvSpPr>
          <p:cNvPr id="6" name="Rectangle 5"/>
          <p:cNvSpPr/>
          <p:nvPr/>
        </p:nvSpPr>
        <p:spPr>
          <a:xfrm>
            <a:off x="6255867" y="2971800"/>
            <a:ext cx="5158587" cy="1737360"/>
          </a:xfrm>
          <a:prstGeom prst="rect">
            <a:avLst/>
          </a:prstGeom>
          <a:solidFill>
            <a:srgbClr val="FFFFFF"/>
          </a:solidFill>
          <a:ln w="9525">
            <a:solidFill>
              <a:srgbClr val="DD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1899" y="3209544"/>
            <a:ext cx="4646523" cy="1261872"/>
          </a:xfrm>
          <a:prstGeom prst="rect">
            <a:avLst/>
          </a:prstGeom>
          <a:noFill/>
        </p:spPr>
        <p:txBody>
          <a:bodyPr wrap="square" lIns="0" rIns="0" tIns="0" bIns="0">
            <a:spAutoFit/>
          </a:bodyPr>
          <a:lstStyle/>
          <a:p>
            <a:pPr>
              <a:lnSpc>
                <a:spcPct val="115000"/>
              </a:lnSpc>
              <a:spcAft>
                <a:spcPts val="800"/>
              </a:spcAft>
            </a:pPr>
            <a:r>
              <a:rPr sz="1600" b="1" i="0">
                <a:solidFill>
                  <a:srgbClr val="131A24"/>
                </a:solidFill>
                <a:latin typeface="Iowan Old Style"/>
              </a:rPr>
              <a:t>Each client added</a:t>
            </a:r>
          </a:p>
          <a:p>
            <a:pPr>
              <a:lnSpc>
                <a:spcPct val="140000"/>
              </a:lnSpc>
              <a:spcAft>
                <a:spcPts val="0"/>
              </a:spcAft>
            </a:pPr>
            <a:r>
              <a:rPr sz="1150" b="0" i="0">
                <a:solidFill>
                  <a:srgbClr val="5D6875"/>
                </a:solidFill>
                <a:latin typeface="Avenir Next"/>
              </a:rPr>
              <a:t>makes publishing a manifest more valuable, because the same file now reaches more customers. Businesses publish where the reach is.</a:t>
            </a:r>
          </a:p>
        </p:txBody>
      </p:sp>
      <p:sp>
        <p:nvSpPr>
          <p:cNvPr id="8" name="TextBox 7"/>
          <p:cNvSpPr txBox="1"/>
          <p:nvPr/>
        </p:nvSpPr>
        <p:spPr>
          <a:xfrm>
            <a:off x="777240" y="4937760"/>
            <a:ext cx="8778240" cy="1188720"/>
          </a:xfrm>
          <a:prstGeom prst="rect">
            <a:avLst/>
          </a:prstGeom>
          <a:noFill/>
        </p:spPr>
        <p:txBody>
          <a:bodyPr wrap="square" lIns="0" rIns="0" tIns="0" bIns="0">
            <a:spAutoFit/>
          </a:bodyPr>
          <a:lstStyle/>
          <a:p>
            <a:pPr>
              <a:lnSpc>
                <a:spcPct val="140000"/>
              </a:lnSpc>
              <a:spcAft>
                <a:spcPts val="0"/>
              </a:spcAft>
            </a:pPr>
            <a:r>
              <a:rPr sz="1400" b="0" i="0">
                <a:solidFill>
                  <a:srgbClr val="5D6875"/>
                </a:solidFill>
                <a:latin typeface="Avenir Next"/>
              </a:rPr>
              <a:t>Standards are winner-take-most and early-mover-decided. The competitive question is not whether someone builds a better support chatbot — it is who defines the schema businesses publish against, because that is decided once and then inherited.</a:t>
            </a:r>
          </a:p>
        </p:txBody>
      </p:sp>
      <p:sp>
        <p:nvSpPr>
          <p:cNvPr id="9" name="TextBox 8"/>
          <p:cNvSpPr txBox="1"/>
          <p:nvPr/>
        </p:nvSpPr>
        <p:spPr>
          <a:xfrm>
            <a:off x="777240" y="5989320"/>
            <a:ext cx="10058400" cy="822960"/>
          </a:xfrm>
          <a:prstGeom prst="rect">
            <a:avLst/>
          </a:prstGeom>
          <a:noFill/>
        </p:spPr>
        <p:txBody>
          <a:bodyPr wrap="square" lIns="0" rIns="0" tIns="0" bIns="0">
            <a:spAutoFit/>
          </a:bodyPr>
          <a:lstStyle/>
          <a:p>
            <a:pPr>
              <a:lnSpc>
                <a:spcPct val="140000"/>
              </a:lnSpc>
              <a:spcAft>
                <a:spcPts val="0"/>
              </a:spcAft>
            </a:pPr>
            <a:r>
              <a:rPr sz="1050" b="0" i="0">
                <a:solidFill>
                  <a:srgbClr val="7C8593"/>
                </a:solidFill>
                <a:latin typeface="Avenir Next"/>
              </a:rPr>
              <a:t>Incumbent CX platforms are structurally poor challengers: their business model is per-company deployment, and an interoperability layer commoditises exactly that.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16</a:t>
            </a:r>
            <a:r>
              <a:rPr sz="900">
                <a:solidFill>
                  <a:srgbClr val="7C8593"/>
                </a:solidFill>
                <a:latin typeface="Menlo"/>
              </a:rPr>
              <a:t>     RISKS</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000" b="1" i="0">
                <a:solidFill>
                  <a:srgbClr val="131A24"/>
                </a:solidFill>
                <a:latin typeface="Iowan Old Style"/>
              </a:rPr>
              <a:t>What has to be true, and what we do about it.</a:t>
            </a:r>
          </a:p>
        </p:txBody>
      </p:sp>
      <p:graphicFrame>
        <p:nvGraphicFramePr>
          <p:cNvPr id="4" name="Table 3"/>
          <p:cNvGraphicFramePr>
            <a:graphicFrameLocks noGrp="1"/>
          </p:cNvGraphicFramePr>
          <p:nvPr/>
        </p:nvGraphicFramePr>
        <p:xfrm>
          <a:off x="777240" y="2148840"/>
          <a:ext cx="10637214" cy="3291840"/>
        </p:xfrm>
        <a:graphic>
          <a:graphicData uri="http://schemas.openxmlformats.org/drawingml/2006/table">
            <a:tbl>
              <a:tblPr bandRow="1">
                <a:tableStyleId>{5C22544A-7EE6-4342-B048-85BDC9FD1C3A}</a:tableStyleId>
              </a:tblPr>
              <a:tblGrid>
                <a:gridCol w="2482016"/>
                <a:gridCol w="8155198"/>
              </a:tblGrid>
              <a:tr h="548640">
                <a:tc>
                  <a:txBody>
                    <a:bodyPr/>
                    <a:lstStyle/>
                    <a:p>
                      <a:r>
                        <a:rPr sz="850" b="0">
                          <a:solidFill>
                            <a:srgbClr val="7C8593"/>
                          </a:solidFill>
                          <a:latin typeface="Menlo"/>
                        </a:rPr>
                        <a:t>RISK</a:t>
                      </a:r>
                    </a:p>
                  </a:txBody>
                  <a:tcPr marL="73152" marR="73152" anchor="ctr">
                    <a:solidFill>
                      <a:srgbClr val="FBFAF7"/>
                    </a:solidFill>
                  </a:tcPr>
                </a:tc>
                <a:tc>
                  <a:txBody>
                    <a:bodyPr/>
                    <a:lstStyle/>
                    <a:p>
                      <a:r>
                        <a:rPr sz="850" b="0">
                          <a:solidFill>
                            <a:srgbClr val="7C8593"/>
                          </a:solidFill>
                          <a:latin typeface="Menlo"/>
                        </a:rPr>
                        <a:t>RESPONSE</a:t>
                      </a:r>
                    </a:p>
                  </a:txBody>
                  <a:tcPr marL="73152" marR="73152" anchor="ctr">
                    <a:solidFill>
                      <a:srgbClr val="FBFAF7"/>
                    </a:solidFill>
                  </a:tcPr>
                </a:tc>
              </a:tr>
              <a:tr h="548640">
                <a:tc>
                  <a:txBody>
                    <a:bodyPr/>
                    <a:lstStyle/>
                    <a:p>
                      <a:pPr>
                        <a:lnSpc>
                          <a:spcPct val="125000"/>
                        </a:lnSpc>
                      </a:pPr>
                      <a:r>
                        <a:rPr sz="1150" b="1">
                          <a:solidFill>
                            <a:srgbClr val="131A24"/>
                          </a:solidFill>
                          <a:latin typeface="Avenir Next"/>
                        </a:rPr>
                        <a:t>Identity &amp; authorisation</a:t>
                      </a:r>
                    </a:p>
                  </a:txBody>
                  <a:tcPr marL="73152" marR="73152" marT="45720" marB="45720" anchor="t">
                    <a:solidFill>
                      <a:srgbClr val="FBFAF7"/>
                    </a:solidFill>
                  </a:tcPr>
                </a:tc>
                <a:tc>
                  <a:txBody>
                    <a:bodyPr/>
                    <a:lstStyle/>
                    <a:p>
                      <a:pPr>
                        <a:lnSpc>
                          <a:spcPct val="125000"/>
                        </a:lnSpc>
                      </a:pPr>
                      <a:r>
                        <a:rPr sz="1150">
                          <a:solidFill>
                            <a:srgbClr val="5D6875"/>
                          </a:solidFill>
                          <a:latin typeface="Avenir Next"/>
                        </a:rPr>
                        <a:t>Sessions are customer-initiated and phone-linked. The manifest declares its own auth requirements, so each business sets its own bar rather than inheriting ours.</a:t>
                      </a:r>
                    </a:p>
                  </a:txBody>
                  <a:tcPr marL="73152" marR="73152" marT="45720" marB="45720" anchor="t">
                    <a:solidFill>
                      <a:srgbClr val="FBFAF7"/>
                    </a:solidFill>
                  </a:tcPr>
                </a:tc>
              </a:tr>
              <a:tr h="548640">
                <a:tc>
                  <a:txBody>
                    <a:bodyPr/>
                    <a:lstStyle/>
                    <a:p>
                      <a:pPr>
                        <a:lnSpc>
                          <a:spcPct val="125000"/>
                        </a:lnSpc>
                      </a:pPr>
                      <a:r>
                        <a:rPr sz="1150" b="1">
                          <a:solidFill>
                            <a:srgbClr val="131A24"/>
                          </a:solidFill>
                          <a:latin typeface="Avenir Next"/>
                        </a:rPr>
                        <a:t>Data protection</a:t>
                      </a:r>
                    </a:p>
                  </a:txBody>
                  <a:tcPr marL="73152" marR="73152" marT="45720" marB="45720" anchor="t">
                    <a:solidFill>
                      <a:srgbClr val="FBFAF7"/>
                    </a:solidFill>
                  </a:tcPr>
                </a:tc>
                <a:tc>
                  <a:txBody>
                    <a:bodyPr/>
                    <a:lstStyle/>
                    <a:p>
                      <a:pPr>
                        <a:lnSpc>
                          <a:spcPct val="125000"/>
                        </a:lnSpc>
                      </a:pPr>
                      <a:r>
                        <a:rPr sz="1150">
                          <a:solidFill>
                            <a:srgbClr val="5D6875"/>
                          </a:solidFill>
                          <a:latin typeface="Avenir Next"/>
                        </a:rPr>
                        <a:t>Explicit consent per session, minimal retention, Indian hosting. Sarvam's residency posture is why this is tractable under DPDP.</a:t>
                      </a:r>
                    </a:p>
                  </a:txBody>
                  <a:tcPr marL="73152" marR="73152" marT="45720" marB="45720" anchor="t">
                    <a:solidFill>
                      <a:srgbClr val="FBFAF7"/>
                    </a:solidFill>
                  </a:tcPr>
                </a:tc>
              </a:tr>
              <a:tr h="548640">
                <a:tc>
                  <a:txBody>
                    <a:bodyPr/>
                    <a:lstStyle/>
                    <a:p>
                      <a:pPr>
                        <a:lnSpc>
                          <a:spcPct val="125000"/>
                        </a:lnSpc>
                      </a:pPr>
                      <a:r>
                        <a:rPr sz="1150" b="1">
                          <a:solidFill>
                            <a:srgbClr val="131A24"/>
                          </a:solidFill>
                          <a:latin typeface="Avenir Next"/>
                        </a:rPr>
                        <a:t>Businesses resisting</a:t>
                      </a:r>
                    </a:p>
                  </a:txBody>
                  <a:tcPr marL="73152" marR="73152" marT="45720" marB="45720" anchor="t">
                    <a:solidFill>
                      <a:srgbClr val="FBFAF7"/>
                    </a:solidFill>
                  </a:tcPr>
                </a:tc>
                <a:tc>
                  <a:txBody>
                    <a:bodyPr/>
                    <a:lstStyle/>
                    <a:p>
                      <a:pPr>
                        <a:lnSpc>
                          <a:spcPct val="125000"/>
                        </a:lnSpc>
                      </a:pPr>
                      <a:r>
                        <a:rPr sz="1150">
                          <a:solidFill>
                            <a:srgbClr val="5D6875"/>
                          </a:solidFill>
                          <a:latin typeface="Avenir Next"/>
                        </a:rPr>
                        <a:t>Adoption is opt-in and ROI-led. A manifest is additive to an existing support desk, not a replacement decision.</a:t>
                      </a:r>
                    </a:p>
                  </a:txBody>
                  <a:tcPr marL="73152" marR="73152" marT="45720" marB="45720" anchor="t">
                    <a:solidFill>
                      <a:srgbClr val="FBFAF7"/>
                    </a:solidFill>
                  </a:tcPr>
                </a:tc>
              </a:tr>
              <a:tr h="548640">
                <a:tc>
                  <a:txBody>
                    <a:bodyPr/>
                    <a:lstStyle/>
                    <a:p>
                      <a:pPr>
                        <a:lnSpc>
                          <a:spcPct val="125000"/>
                        </a:lnSpc>
                      </a:pPr>
                      <a:r>
                        <a:rPr sz="1150" b="1">
                          <a:solidFill>
                            <a:srgbClr val="131A24"/>
                          </a:solidFill>
                          <a:latin typeface="Avenir Next"/>
                        </a:rPr>
                        <a:t>Latency at voice scale</a:t>
                      </a:r>
                    </a:p>
                  </a:txBody>
                  <a:tcPr marL="73152" marR="73152" marT="45720" marB="45720" anchor="t">
                    <a:solidFill>
                      <a:srgbClr val="FBFAF7"/>
                    </a:solidFill>
                  </a:tcPr>
                </a:tc>
                <a:tc>
                  <a:txBody>
                    <a:bodyPr/>
                    <a:lstStyle/>
                    <a:p>
                      <a:pPr>
                        <a:lnSpc>
                          <a:spcPct val="125000"/>
                        </a:lnSpc>
                      </a:pPr>
                      <a:r>
                        <a:rPr sz="1150">
                          <a:solidFill>
                            <a:srgbClr val="5D6875"/>
                          </a:solidFill>
                          <a:latin typeface="Avenir Next"/>
                        </a:rPr>
                        <a:t>Reasoning is the only slow stage and is already isolated. Async delivery is proven on WhatsApp; caching and per-capability smaller models are the next levers.</a:t>
                      </a:r>
                    </a:p>
                  </a:txBody>
                  <a:tcPr marL="73152" marR="73152" marT="45720" marB="45720" anchor="t">
                    <a:solidFill>
                      <a:srgbClr val="FBFAF7"/>
                    </a:solidFill>
                  </a:tcPr>
                </a:tc>
              </a:tr>
              <a:tr h="548640">
                <a:tc>
                  <a:txBody>
                    <a:bodyPr/>
                    <a:lstStyle/>
                    <a:p>
                      <a:pPr>
                        <a:lnSpc>
                          <a:spcPct val="125000"/>
                        </a:lnSpc>
                      </a:pPr>
                      <a:r>
                        <a:rPr sz="1150" b="1">
                          <a:solidFill>
                            <a:srgbClr val="131A24"/>
                          </a:solidFill>
                          <a:latin typeface="Avenir Next"/>
                        </a:rPr>
                        <a:t>Wrong action executed</a:t>
                      </a:r>
                    </a:p>
                  </a:txBody>
                  <a:tcPr marL="73152" marR="73152" marT="45720" marB="45720" anchor="t">
                    <a:solidFill>
                      <a:srgbClr val="FBFAF7"/>
                    </a:solidFill>
                  </a:tcPr>
                </a:tc>
                <a:tc>
                  <a:txBody>
                    <a:bodyPr/>
                    <a:lstStyle/>
                    <a:p>
                      <a:pPr>
                        <a:lnSpc>
                          <a:spcPct val="125000"/>
                        </a:lnSpc>
                      </a:pPr>
                      <a:r>
                        <a:rPr sz="1150">
                          <a:solidFill>
                            <a:srgbClr val="5D6875"/>
                          </a:solidFill>
                          <a:latin typeface="Avenir Next"/>
                        </a:rPr>
                        <a:t>Destructive capabilities are confirmation-gated in the manifest, rules are checked before execution, and every completed job returns a disputable receipt.</a:t>
                      </a:r>
                    </a:p>
                  </a:txBody>
                  <a:tcPr marL="73152" marR="73152" marT="45720" marB="45720" anchor="t">
                    <a:solidFill>
                      <a:srgbClr val="FBFAF7"/>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lIns="0" rIns="0" tIns="0" bIns="0">
            <a:spAutoFit/>
          </a:bodyPr>
          <a:lstStyle/>
          <a:p>
            <a:r>
              <a:rPr sz="900">
                <a:solidFill>
                  <a:srgbClr val="B87A0D"/>
                </a:solidFill>
                <a:latin typeface="Menlo"/>
              </a:rPr>
              <a:t>17</a:t>
            </a:r>
            <a:r>
              <a:rPr sz="900">
                <a:solidFill>
                  <a:srgbClr val="7C8593"/>
                </a:solidFill>
                <a:latin typeface="Menlo"/>
              </a:rPr>
              <a:t>     THE ASK</a:t>
            </a:r>
          </a:p>
        </p:txBody>
      </p:sp>
      <p:sp>
        <p:nvSpPr>
          <p:cNvPr id="3" name="TextBox 2"/>
          <p:cNvSpPr txBox="1"/>
          <p:nvPr/>
        </p:nvSpPr>
        <p:spPr>
          <a:xfrm>
            <a:off x="777240" y="914400"/>
            <a:ext cx="9509760" cy="1737360"/>
          </a:xfrm>
          <a:prstGeom prst="rect">
            <a:avLst/>
          </a:prstGeom>
          <a:noFill/>
        </p:spPr>
        <p:txBody>
          <a:bodyPr wrap="square" lIns="0" rIns="0" tIns="0" bIns="0">
            <a:spAutoFit/>
          </a:bodyPr>
          <a:lstStyle/>
          <a:p>
            <a:pPr>
              <a:lnSpc>
                <a:spcPct val="102000"/>
              </a:lnSpc>
              <a:spcAft>
                <a:spcPts val="0"/>
              </a:spcAft>
            </a:pPr>
            <a:r>
              <a:rPr sz="3400" b="1" i="0">
                <a:solidFill>
                  <a:srgbClr val="131A24"/>
                </a:solidFill>
                <a:latin typeface="Iowan Old Style"/>
              </a:rPr>
              <a:t>UCXP is not an MVP.
It is an attempt at infrastructure.</a:t>
            </a:r>
          </a:p>
        </p:txBody>
      </p:sp>
      <p:sp>
        <p:nvSpPr>
          <p:cNvPr id="4" name="TextBox 3"/>
          <p:cNvSpPr txBox="1"/>
          <p:nvPr/>
        </p:nvSpPr>
        <p:spPr>
          <a:xfrm>
            <a:off x="777240" y="2788920"/>
            <a:ext cx="8778240" cy="1188720"/>
          </a:xfrm>
          <a:prstGeom prst="rect">
            <a:avLst/>
          </a:prstGeom>
          <a:noFill/>
        </p:spPr>
        <p:txBody>
          <a:bodyPr wrap="square" lIns="0" rIns="0" tIns="0" bIns="0">
            <a:spAutoFit/>
          </a:bodyPr>
          <a:lstStyle/>
          <a:p>
            <a:pPr>
              <a:lnSpc>
                <a:spcPct val="140000"/>
              </a:lnSpc>
              <a:spcAft>
                <a:spcPts val="0"/>
              </a:spcAft>
            </a:pPr>
            <a:r>
              <a:rPr sz="1500" b="0" i="0">
                <a:solidFill>
                  <a:srgbClr val="5D6875"/>
                </a:solidFill>
                <a:latin typeface="Avenir Next"/>
              </a:rPr>
              <a:t>A protocol, a generic runtime, two live clients, eight published manifests and a measured voice pipeline — built to show that customer resolution can be a shared standard rather than 76 million private rebuilds.</a:t>
            </a:r>
          </a:p>
        </p:txBody>
      </p:sp>
      <p:sp>
        <p:nvSpPr>
          <p:cNvPr id="5" name="TextBox 4"/>
          <p:cNvSpPr txBox="1"/>
          <p:nvPr/>
        </p:nvSpPr>
        <p:spPr>
          <a:xfrm>
            <a:off x="777240" y="3886200"/>
            <a:ext cx="3332378" cy="1097280"/>
          </a:xfrm>
          <a:prstGeom prst="rect">
            <a:avLst/>
          </a:prstGeom>
          <a:noFill/>
        </p:spPr>
        <p:txBody>
          <a:bodyPr wrap="square" lIns="0" rIns="0" tIns="0" bIns="0">
            <a:spAutoFit/>
          </a:bodyPr>
          <a:lstStyle/>
          <a:p>
            <a:r>
              <a:rPr sz="3800" b="1">
                <a:solidFill>
                  <a:srgbClr val="B87A0D"/>
                </a:solidFill>
                <a:latin typeface="Iowan Old Style"/>
              </a:rPr>
              <a:t>8</a:t>
            </a:r>
          </a:p>
          <a:p>
            <a:pPr>
              <a:lnSpc>
                <a:spcPct val="130000"/>
              </a:lnSpc>
              <a:spcBef>
                <a:spcPts val="600"/>
              </a:spcBef>
            </a:pPr>
            <a:r>
              <a:rPr sz="1100">
                <a:solidFill>
                  <a:srgbClr val="5D6875"/>
                </a:solidFill>
                <a:latin typeface="Avenir Next"/>
              </a:rPr>
              <a:t>Manifests published against the schema</a:t>
            </a:r>
          </a:p>
        </p:txBody>
      </p:sp>
      <p:sp>
        <p:nvSpPr>
          <p:cNvPr id="6" name="TextBox 5"/>
          <p:cNvSpPr txBox="1"/>
          <p:nvPr/>
        </p:nvSpPr>
        <p:spPr>
          <a:xfrm>
            <a:off x="4429658" y="3886200"/>
            <a:ext cx="3332378" cy="1097280"/>
          </a:xfrm>
          <a:prstGeom prst="rect">
            <a:avLst/>
          </a:prstGeom>
          <a:noFill/>
        </p:spPr>
        <p:txBody>
          <a:bodyPr wrap="square" lIns="0" rIns="0" tIns="0" bIns="0">
            <a:spAutoFit/>
          </a:bodyPr>
          <a:lstStyle/>
          <a:p>
            <a:r>
              <a:rPr sz="3800" b="1">
                <a:solidFill>
                  <a:srgbClr val="131A24"/>
                </a:solidFill>
                <a:latin typeface="Iowan Old Style"/>
              </a:rPr>
              <a:t>2</a:t>
            </a:r>
          </a:p>
          <a:p>
            <a:pPr>
              <a:lnSpc>
                <a:spcPct val="130000"/>
              </a:lnSpc>
              <a:spcBef>
                <a:spcPts val="600"/>
              </a:spcBef>
            </a:pPr>
            <a:r>
              <a:rPr sz="1100">
                <a:solidFill>
                  <a:srgbClr val="5D6875"/>
                </a:solidFill>
                <a:latin typeface="Avenir Next"/>
              </a:rPr>
              <a:t>Clients, one runtime, zero duplicated logic</a:t>
            </a:r>
          </a:p>
        </p:txBody>
      </p:sp>
      <p:sp>
        <p:nvSpPr>
          <p:cNvPr id="7" name="TextBox 6"/>
          <p:cNvSpPr txBox="1"/>
          <p:nvPr/>
        </p:nvSpPr>
        <p:spPr>
          <a:xfrm>
            <a:off x="8082076" y="3886200"/>
            <a:ext cx="3332378" cy="1097280"/>
          </a:xfrm>
          <a:prstGeom prst="rect">
            <a:avLst/>
          </a:prstGeom>
          <a:noFill/>
        </p:spPr>
        <p:txBody>
          <a:bodyPr wrap="square" lIns="0" rIns="0" tIns="0" bIns="0">
            <a:spAutoFit/>
          </a:bodyPr>
          <a:lstStyle/>
          <a:p>
            <a:r>
              <a:rPr sz="3800" b="1">
                <a:solidFill>
                  <a:srgbClr val="131A24"/>
                </a:solidFill>
                <a:latin typeface="Iowan Old Style"/>
              </a:rPr>
              <a:t>0</a:t>
            </a:r>
          </a:p>
          <a:p>
            <a:pPr>
              <a:lnSpc>
                <a:spcPct val="130000"/>
              </a:lnSpc>
              <a:spcBef>
                <a:spcPts val="600"/>
              </a:spcBef>
            </a:pPr>
            <a:r>
              <a:rPr sz="1100">
                <a:solidFill>
                  <a:srgbClr val="5D6875"/>
                </a:solidFill>
                <a:latin typeface="Avenir Next"/>
              </a:rPr>
              <a:t>Lines of business-specific code in the runtime</a:t>
            </a:r>
          </a:p>
        </p:txBody>
      </p:sp>
      <p:sp>
        <p:nvSpPr>
          <p:cNvPr id="8" name="Rectangle 7"/>
          <p:cNvSpPr/>
          <p:nvPr/>
        </p:nvSpPr>
        <p:spPr>
          <a:xfrm>
            <a:off x="777240" y="5166360"/>
            <a:ext cx="10637215" cy="9525"/>
          </a:xfrm>
          <a:prstGeom prst="rect">
            <a:avLst/>
          </a:prstGeom>
          <a:solidFill>
            <a:srgbClr val="DD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394960"/>
            <a:ext cx="5120640" cy="1097280"/>
          </a:xfrm>
          <a:prstGeom prst="rect">
            <a:avLst/>
          </a:prstGeom>
          <a:noFill/>
        </p:spPr>
        <p:txBody>
          <a:bodyPr wrap="square" lIns="0" rIns="0" tIns="0" bIns="0">
            <a:spAutoFit/>
          </a:bodyPr>
          <a:lstStyle/>
          <a:p>
            <a:pPr>
              <a:spcAft>
                <a:spcPts val="700"/>
              </a:spcAft>
            </a:pPr>
            <a:r>
              <a:rPr sz="1500" b="1" i="0">
                <a:solidFill>
                  <a:srgbClr val="131A24"/>
                </a:solidFill>
                <a:latin typeface="Iowan Old Style"/>
              </a:rPr>
              <a:t>Next</a:t>
            </a:r>
          </a:p>
          <a:p>
            <a:pPr>
              <a:lnSpc>
                <a:spcPct val="140000"/>
              </a:lnSpc>
              <a:spcAft>
                <a:spcPts val="0"/>
              </a:spcAft>
            </a:pPr>
            <a:r>
              <a:rPr sz="1150" b="0" i="0">
                <a:solidFill>
                  <a:srgbClr val="5D6875"/>
                </a:solidFill>
                <a:latin typeface="Avenir Next"/>
              </a:rPr>
              <a:t>Ship the consistency harness so multilingual parity is measured rather than asserted; generate manifests from support documents; open the schema for public comment.</a:t>
            </a:r>
          </a:p>
        </p:txBody>
      </p:sp>
      <p:sp>
        <p:nvSpPr>
          <p:cNvPr id="10" name="TextBox 9"/>
          <p:cNvSpPr txBox="1"/>
          <p:nvPr/>
        </p:nvSpPr>
        <p:spPr>
          <a:xfrm>
            <a:off x="6355080" y="5394960"/>
            <a:ext cx="5059375" cy="1097280"/>
          </a:xfrm>
          <a:prstGeom prst="rect">
            <a:avLst/>
          </a:prstGeom>
          <a:noFill/>
        </p:spPr>
        <p:txBody>
          <a:bodyPr wrap="square" lIns="0" rIns="0" tIns="0" bIns="0">
            <a:spAutoFit/>
          </a:bodyPr>
          <a:lstStyle/>
          <a:p>
            <a:pPr>
              <a:spcAft>
                <a:spcPts val="700"/>
              </a:spcAft>
            </a:pPr>
            <a:r>
              <a:rPr sz="1500" b="1" i="0">
                <a:solidFill>
                  <a:srgbClr val="131A24"/>
                </a:solidFill>
                <a:latin typeface="Iowan Old Style"/>
              </a:rPr>
              <a:t>What we want from Sarvam</a:t>
            </a:r>
          </a:p>
          <a:p>
            <a:pPr>
              <a:lnSpc>
                <a:spcPct val="140000"/>
              </a:lnSpc>
              <a:spcAft>
                <a:spcPts val="0"/>
              </a:spcAft>
            </a:pPr>
            <a:r>
              <a:rPr sz="1150" b="0" i="0">
                <a:solidFill>
                  <a:srgbClr val="5D6875"/>
                </a:solidFill>
                <a:latin typeface="Avenir Next"/>
              </a:rPr>
              <a:t>Treat UCXP as the application layer above the model layer. Every language Sarvam adds becomes reach for every business already published — and a standard that assumes Indian languages by default is one no global platform is positioned to define.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